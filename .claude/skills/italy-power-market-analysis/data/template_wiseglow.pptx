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3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4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5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8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19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20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charts/chart23.xml" ContentType="application/vnd.openxmlformats-officedocument.drawingml.chart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2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charts/chart25.xml" ContentType="application/vnd.openxmlformats-officedocument.drawingml.chart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 F0 2024</c:v>
                </c:pt>
              </c:strCache>
            </c:strRef>
          </c:tx>
          <c:spPr>
            <a:solidFill>
              <a:srgbClr val="0E4D4B"/>
            </a:solidFill>
            <a:ln w="3810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4D4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99.16</c:v>
                </c:pt>
                <c:pt idx="1">
                  <c:v>87.63</c:v>
                </c:pt>
                <c:pt idx="2">
                  <c:v>88.86</c:v>
                </c:pt>
                <c:pt idx="3">
                  <c:v>86.8</c:v>
                </c:pt>
                <c:pt idx="4">
                  <c:v>94.88</c:v>
                </c:pt>
                <c:pt idx="5">
                  <c:v>103.17</c:v>
                </c:pt>
                <c:pt idx="6">
                  <c:v>112.32</c:v>
                </c:pt>
                <c:pt idx="7">
                  <c:v>128.44</c:v>
                </c:pt>
                <c:pt idx="8">
                  <c:v>117.13</c:v>
                </c:pt>
                <c:pt idx="9">
                  <c:v>116.69</c:v>
                </c:pt>
                <c:pt idx="10">
                  <c:v>130.89</c:v>
                </c:pt>
                <c:pt idx="11">
                  <c:v>135.06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E4D4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5"/>
          <c:min val="8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PUN F0 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 F0 2025</c:v>
                </c:pt>
              </c:strCache>
            </c:strRef>
          </c:tx>
          <c:spPr>
            <a:solidFill>
              <a:srgbClr val="D4A04A"/>
            </a:solidFill>
            <a:ln w="3810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4D4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143.03</c:v>
                </c:pt>
                <c:pt idx="1">
                  <c:v>150.36</c:v>
                </c:pt>
                <c:pt idx="2">
                  <c:v>120.55</c:v>
                </c:pt>
                <c:pt idx="3">
                  <c:v>99.85</c:v>
                </c:pt>
                <c:pt idx="4">
                  <c:v>93.58</c:v>
                </c:pt>
                <c:pt idx="5">
                  <c:v>111.78</c:v>
                </c:pt>
                <c:pt idx="6">
                  <c:v>113.13</c:v>
                </c:pt>
                <c:pt idx="7">
                  <c:v>108.79</c:v>
                </c:pt>
                <c:pt idx="8">
                  <c:v>109.08</c:v>
                </c:pt>
                <c:pt idx="9">
                  <c:v>111.04</c:v>
                </c:pt>
                <c:pt idx="10">
                  <c:v>117.09</c:v>
                </c:pt>
                <c:pt idx="11">
                  <c:v>115.49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E4D4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8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PUN F0 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PUN F0 2026</c:v>
                </c:pt>
              </c:strCache>
            </c:strRef>
          </c:tx>
          <c:spPr>
            <a:solidFill>
              <a:srgbClr val="C75450"/>
            </a:solidFill>
            <a:ln w="38100" cap="flat">
              <a:solidFill>
                <a:srgbClr val="C754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4D4B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75450"/>
              </a:solidFill>
              <a:ln w="9525" cap="flat">
                <a:solidFill>
                  <a:srgbClr val="C754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132.66</c:v>
                </c:pt>
                <c:pt idx="1">
                  <c:v>114.41</c:v>
                </c:pt>
                <c:pt idx="2">
                  <c:v>143.4</c:v>
                </c:pt>
                <c:pt idx="3">
                  <c:v>119.47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E4D4B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10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PUN F0 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8B0AC"/>
            </a:solidFill>
            <a:ln w="38100" cap="flat">
              <a:solidFill>
                <a:srgbClr val="A8B0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8B0AC"/>
              </a:solidFill>
              <a:ln w="9525" cap="flat">
                <a:solidFill>
                  <a:srgbClr val="A8B0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99.16</c:v>
                </c:pt>
                <c:pt idx="1">
                  <c:v>87.63</c:v>
                </c:pt>
                <c:pt idx="2">
                  <c:v>88.86</c:v>
                </c:pt>
                <c:pt idx="3">
                  <c:v>86.8</c:v>
                </c:pt>
                <c:pt idx="4">
                  <c:v>94.88</c:v>
                </c:pt>
                <c:pt idx="5">
                  <c:v>103.17</c:v>
                </c:pt>
                <c:pt idx="6">
                  <c:v>112.32</c:v>
                </c:pt>
                <c:pt idx="7">
                  <c:v>128.44</c:v>
                </c:pt>
                <c:pt idx="8">
                  <c:v>117.13</c:v>
                </c:pt>
                <c:pt idx="9">
                  <c:v>116.69</c:v>
                </c:pt>
                <c:pt idx="10">
                  <c:v>130.89</c:v>
                </c:pt>
                <c:pt idx="11">
                  <c:v>135.06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E4D4B"/>
            </a:solidFill>
            <a:ln w="3810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143.03</c:v>
                </c:pt>
                <c:pt idx="1">
                  <c:v>150.36</c:v>
                </c:pt>
                <c:pt idx="2">
                  <c:v>120.55</c:v>
                </c:pt>
                <c:pt idx="3">
                  <c:v>99.85</c:v>
                </c:pt>
                <c:pt idx="4">
                  <c:v>93.58</c:v>
                </c:pt>
                <c:pt idx="5">
                  <c:v>111.78</c:v>
                </c:pt>
                <c:pt idx="6">
                  <c:v>113.13</c:v>
                </c:pt>
                <c:pt idx="7">
                  <c:v>108.79</c:v>
                </c:pt>
                <c:pt idx="8">
                  <c:v>109.08</c:v>
                </c:pt>
                <c:pt idx="9">
                  <c:v>111.04</c:v>
                </c:pt>
                <c:pt idx="10">
                  <c:v>117.09</c:v>
                </c:pt>
                <c:pt idx="11">
                  <c:v>115.49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 YTD</c:v>
                </c:pt>
              </c:strCache>
            </c:strRef>
          </c:tx>
          <c:spPr>
            <a:solidFill>
              <a:srgbClr val="D4A04A"/>
            </a:solidFill>
            <a:ln w="3810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132.66</c:v>
                </c:pt>
                <c:pt idx="1">
                  <c:v>114.41</c:v>
                </c:pt>
                <c:pt idx="2">
                  <c:v>143.4</c:v>
                </c:pt>
                <c:pt idx="3">
                  <c:v>119.47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5"/>
          <c:min val="6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PUN F0 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最大值</c:v>
                </c:pt>
              </c:strCache>
            </c:strRef>
          </c:tx>
          <c:spPr>
            <a:solidFill>
              <a:srgbClr val="D4A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4D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 YTD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135.06</c:v>
                </c:pt>
                <c:pt idx="1">
                  <c:v>150.36</c:v>
                </c:pt>
                <c:pt idx="2">
                  <c:v>143.4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均值</c:v>
                </c:pt>
              </c:strCache>
            </c:strRef>
          </c:tx>
          <c:spPr>
            <a:solidFill>
              <a:srgbClr val="0E4D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4D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 YTD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108.42</c:v>
                </c:pt>
                <c:pt idx="1">
                  <c:v>115.32</c:v>
                </c:pt>
                <c:pt idx="2">
                  <c:v>127.49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最小值</c:v>
                </c:pt>
              </c:strCache>
            </c:strRef>
          </c:tx>
          <c:spPr>
            <a:solidFill>
              <a:srgbClr val="A8B0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E4D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 YTD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86.8</c:v>
                </c:pt>
                <c:pt idx="1">
                  <c:v>93.58</c:v>
                </c:pt>
                <c:pt idx="2">
                  <c:v>114.41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E4D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6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日间峰</c:v>
                </c:pt>
              </c:strCache>
            </c:strRef>
          </c:tx>
          <c:spPr>
            <a:solidFill>
              <a:srgbClr val="0E4D4B"/>
            </a:solidFill>
            <a:ln w="3175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109.65</c:v>
                </c:pt>
                <c:pt idx="1">
                  <c:v>96.15</c:v>
                </c:pt>
                <c:pt idx="2">
                  <c:v>94.93</c:v>
                </c:pt>
                <c:pt idx="3">
                  <c:v>85.57</c:v>
                </c:pt>
                <c:pt idx="4">
                  <c:v>94.66</c:v>
                </c:pt>
                <c:pt idx="5">
                  <c:v>103.81</c:v>
                </c:pt>
                <c:pt idx="6">
                  <c:v>108.67</c:v>
                </c:pt>
                <c:pt idx="7">
                  <c:v>121.67</c:v>
                </c:pt>
                <c:pt idx="8">
                  <c:v>122.33</c:v>
                </c:pt>
                <c:pt idx="9">
                  <c:v>123.78</c:v>
                </c:pt>
                <c:pt idx="10">
                  <c:v>145.59</c:v>
                </c:pt>
                <c:pt idx="11">
                  <c:v>158.47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F2 晚峰</c:v>
                </c:pt>
              </c:strCache>
            </c:strRef>
          </c:tx>
          <c:spPr>
            <a:solidFill>
              <a:srgbClr val="D4A04A"/>
            </a:solidFill>
            <a:ln w="3175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105.07</c:v>
                </c:pt>
                <c:pt idx="1">
                  <c:v>94.92</c:v>
                </c:pt>
                <c:pt idx="2">
                  <c:v>94.62</c:v>
                </c:pt>
                <c:pt idx="3">
                  <c:v>101.29</c:v>
                </c:pt>
                <c:pt idx="4">
                  <c:v>111.48</c:v>
                </c:pt>
                <c:pt idx="5">
                  <c:v>116.16</c:v>
                </c:pt>
                <c:pt idx="6">
                  <c:v>130.63</c:v>
                </c:pt>
                <c:pt idx="7">
                  <c:v>147.95</c:v>
                </c:pt>
                <c:pt idx="8">
                  <c:v>131.74</c:v>
                </c:pt>
                <c:pt idx="9">
                  <c:v>126.63</c:v>
                </c:pt>
                <c:pt idx="10">
                  <c:v>137.38</c:v>
                </c:pt>
                <c:pt idx="11">
                  <c:v>145.93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F3 夜谷</c:v>
                </c:pt>
              </c:strCache>
            </c:strRef>
          </c:tx>
          <c:spPr>
            <a:solidFill>
              <a:srgbClr val="A8B0AC"/>
            </a:solidFill>
            <a:ln w="31750" cap="flat">
              <a:solidFill>
                <a:srgbClr val="A8B0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8B0AC"/>
              </a:solidFill>
              <a:ln w="9525" cap="flat">
                <a:solidFill>
                  <a:srgbClr val="A8B0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89.06</c:v>
                </c:pt>
                <c:pt idx="1">
                  <c:v>76.81</c:v>
                </c:pt>
                <c:pt idx="2">
                  <c:v>81.32</c:v>
                </c:pt>
                <c:pt idx="3">
                  <c:v>80.54</c:v>
                </c:pt>
                <c:pt idx="4">
                  <c:v>86.24</c:v>
                </c:pt>
                <c:pt idx="5">
                  <c:v>95.43</c:v>
                </c:pt>
                <c:pt idx="6">
                  <c:v>104.78</c:v>
                </c:pt>
                <c:pt idx="7">
                  <c:v>122.19</c:v>
                </c:pt>
                <c:pt idx="8">
                  <c:v>105.65</c:v>
                </c:pt>
                <c:pt idx="9">
                  <c:v>105.27</c:v>
                </c:pt>
                <c:pt idx="10">
                  <c:v>117.13</c:v>
                </c:pt>
                <c:pt idx="11">
                  <c:v>115.81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5"/>
          <c:min val="7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2024 月度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 2024</c:v>
                </c:pt>
              </c:strCache>
            </c:strRef>
          </c:tx>
          <c:spPr>
            <a:solidFill>
              <a:srgbClr val="A8B0AC"/>
            </a:solidFill>
            <a:ln w="38100" cap="flat">
              <a:solidFill>
                <a:srgbClr val="A8B0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8B0AC"/>
              </a:solidFill>
              <a:ln w="9525" cap="flat">
                <a:solidFill>
                  <a:srgbClr val="A8B0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109.65</c:v>
                </c:pt>
                <c:pt idx="1">
                  <c:v>96.15</c:v>
                </c:pt>
                <c:pt idx="2">
                  <c:v>94.93</c:v>
                </c:pt>
                <c:pt idx="3">
                  <c:v>85.57</c:v>
                </c:pt>
                <c:pt idx="4">
                  <c:v>94.66</c:v>
                </c:pt>
                <c:pt idx="5">
                  <c:v>103.81</c:v>
                </c:pt>
                <c:pt idx="6">
                  <c:v>108.67</c:v>
                </c:pt>
                <c:pt idx="7">
                  <c:v>121.67</c:v>
                </c:pt>
                <c:pt idx="8">
                  <c:v>122.33</c:v>
                </c:pt>
                <c:pt idx="9">
                  <c:v>123.78</c:v>
                </c:pt>
                <c:pt idx="10">
                  <c:v>145.59</c:v>
                </c:pt>
                <c:pt idx="11">
                  <c:v>158.47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2025</c:v>
                </c:pt>
              </c:strCache>
            </c:strRef>
          </c:tx>
          <c:spPr>
            <a:solidFill>
              <a:srgbClr val="0E4D4B"/>
            </a:solidFill>
            <a:ln w="3810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158.32</c:v>
                </c:pt>
                <c:pt idx="1">
                  <c:v>157.64</c:v>
                </c:pt>
                <c:pt idx="2">
                  <c:v>121.68</c:v>
                </c:pt>
                <c:pt idx="3">
                  <c:v>95.84</c:v>
                </c:pt>
                <c:pt idx="4">
                  <c:v>89.09</c:v>
                </c:pt>
                <c:pt idx="5">
                  <c:v>113.06</c:v>
                </c:pt>
                <c:pt idx="6">
                  <c:v>108.96</c:v>
                </c:pt>
                <c:pt idx="7">
                  <c:v>105.58</c:v>
                </c:pt>
                <c:pt idx="8">
                  <c:v>109.59</c:v>
                </c:pt>
                <c:pt idx="9">
                  <c:v>117.83</c:v>
                </c:pt>
                <c:pt idx="10">
                  <c:v>129.59</c:v>
                </c:pt>
                <c:pt idx="11">
                  <c:v>130.09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 2026</c:v>
                </c:pt>
              </c:strCache>
            </c:strRef>
          </c:tx>
          <c:spPr>
            <a:solidFill>
              <a:srgbClr val="D4A04A"/>
            </a:solidFill>
            <a:ln w="3810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151.26</c:v>
                </c:pt>
                <c:pt idx="1">
                  <c:v>122.28</c:v>
                </c:pt>
                <c:pt idx="2">
                  <c:v>143.02</c:v>
                </c:pt>
                <c:pt idx="3">
                  <c:v>111.14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0"/>
          <c:min val="7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F1 €/MWh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F2 2024</c:v>
                </c:pt>
              </c:strCache>
            </c:strRef>
          </c:tx>
          <c:spPr>
            <a:solidFill>
              <a:srgbClr val="A8B0AC"/>
            </a:solidFill>
            <a:ln w="38100" cap="flat">
              <a:solidFill>
                <a:srgbClr val="A8B0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8B0AC"/>
              </a:solidFill>
              <a:ln w="9525" cap="flat">
                <a:solidFill>
                  <a:srgbClr val="A8B0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105.07</c:v>
                </c:pt>
                <c:pt idx="1">
                  <c:v>94.92</c:v>
                </c:pt>
                <c:pt idx="2">
                  <c:v>94.62</c:v>
                </c:pt>
                <c:pt idx="3">
                  <c:v>101.29</c:v>
                </c:pt>
                <c:pt idx="4">
                  <c:v>111.48</c:v>
                </c:pt>
                <c:pt idx="5">
                  <c:v>116.16</c:v>
                </c:pt>
                <c:pt idx="6">
                  <c:v>130.63</c:v>
                </c:pt>
                <c:pt idx="7">
                  <c:v>147.95</c:v>
                </c:pt>
                <c:pt idx="8">
                  <c:v>131.74</c:v>
                </c:pt>
                <c:pt idx="9">
                  <c:v>126.63</c:v>
                </c:pt>
                <c:pt idx="10">
                  <c:v>137.38</c:v>
                </c:pt>
                <c:pt idx="11">
                  <c:v>145.93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F2 2025</c:v>
                </c:pt>
              </c:strCache>
            </c:strRef>
          </c:tx>
          <c:spPr>
            <a:solidFill>
              <a:srgbClr val="0E4D4B"/>
            </a:solidFill>
            <a:ln w="3810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151.61</c:v>
                </c:pt>
                <c:pt idx="1">
                  <c:v>158.95</c:v>
                </c:pt>
                <c:pt idx="2">
                  <c:v>134.86</c:v>
                </c:pt>
                <c:pt idx="3">
                  <c:v>115.08</c:v>
                </c:pt>
                <c:pt idx="4">
                  <c:v>110.64</c:v>
                </c:pt>
                <c:pt idx="5">
                  <c:v>126.76</c:v>
                </c:pt>
                <c:pt idx="6">
                  <c:v>127.1</c:v>
                </c:pt>
                <c:pt idx="7">
                  <c:v>117.97</c:v>
                </c:pt>
                <c:pt idx="8">
                  <c:v>120.93</c:v>
                </c:pt>
                <c:pt idx="9">
                  <c:v>121.66</c:v>
                </c:pt>
                <c:pt idx="10">
                  <c:v>124.02</c:v>
                </c:pt>
                <c:pt idx="11">
                  <c:v>119.98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F2 2026</c:v>
                </c:pt>
              </c:strCache>
            </c:strRef>
          </c:tx>
          <c:spPr>
            <a:solidFill>
              <a:srgbClr val="D4A04A"/>
            </a:solidFill>
            <a:ln w="3810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137.41</c:v>
                </c:pt>
                <c:pt idx="1">
                  <c:v>119.84</c:v>
                </c:pt>
                <c:pt idx="2">
                  <c:v>153.91</c:v>
                </c:pt>
                <c:pt idx="3">
                  <c:v>138.26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5"/>
          <c:min val="85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F2 €/MWh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F3 2024</c:v>
                </c:pt>
              </c:strCache>
            </c:strRef>
          </c:tx>
          <c:spPr>
            <a:solidFill>
              <a:srgbClr val="A8B0AC"/>
            </a:solidFill>
            <a:ln w="38100" cap="flat">
              <a:solidFill>
                <a:srgbClr val="A8B0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8B0AC"/>
              </a:solidFill>
              <a:ln w="9525" cap="flat">
                <a:solidFill>
                  <a:srgbClr val="A8B0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89.06</c:v>
                </c:pt>
                <c:pt idx="1">
                  <c:v>76.81</c:v>
                </c:pt>
                <c:pt idx="2">
                  <c:v>81.32</c:v>
                </c:pt>
                <c:pt idx="3">
                  <c:v>80.54</c:v>
                </c:pt>
                <c:pt idx="4">
                  <c:v>86.24</c:v>
                </c:pt>
                <c:pt idx="5">
                  <c:v>95.43</c:v>
                </c:pt>
                <c:pt idx="6">
                  <c:v>104.78</c:v>
                </c:pt>
                <c:pt idx="7">
                  <c:v>122.19</c:v>
                </c:pt>
                <c:pt idx="8">
                  <c:v>105.65</c:v>
                </c:pt>
                <c:pt idx="9">
                  <c:v>105.27</c:v>
                </c:pt>
                <c:pt idx="10">
                  <c:v>117.13</c:v>
                </c:pt>
                <c:pt idx="11">
                  <c:v>115.81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F3 2025</c:v>
                </c:pt>
              </c:strCache>
            </c:strRef>
          </c:tx>
          <c:spPr>
            <a:solidFill>
              <a:srgbClr val="0E4D4B"/>
            </a:solidFill>
            <a:ln w="3810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128.54</c:v>
                </c:pt>
                <c:pt idx="1">
                  <c:v>139.91</c:v>
                </c:pt>
                <c:pt idx="2">
                  <c:v>111.65</c:v>
                </c:pt>
                <c:pt idx="3">
                  <c:v>95.05</c:v>
                </c:pt>
                <c:pt idx="4">
                  <c:v>87.11</c:v>
                </c:pt>
                <c:pt idx="5">
                  <c:v>103.63</c:v>
                </c:pt>
                <c:pt idx="6">
                  <c:v>108.49</c:v>
                </c:pt>
                <c:pt idx="7">
                  <c:v>106.04</c:v>
                </c:pt>
                <c:pt idx="8">
                  <c:v>101.88</c:v>
                </c:pt>
                <c:pt idx="9">
                  <c:v>99.48</c:v>
                </c:pt>
                <c:pt idx="10">
                  <c:v>105.51</c:v>
                </c:pt>
                <c:pt idx="11">
                  <c:v>104.52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F3 2026</c:v>
                </c:pt>
              </c:strCache>
            </c:strRef>
          </c:tx>
          <c:spPr>
            <a:solidFill>
              <a:srgbClr val="D4A04A"/>
            </a:solidFill>
            <a:ln w="3810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118.29</c:v>
                </c:pt>
                <c:pt idx="1">
                  <c:v>105.3</c:v>
                </c:pt>
                <c:pt idx="2">
                  <c:v>138.09</c:v>
                </c:pt>
                <c:pt idx="3">
                  <c:v>116.63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7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F3 €/MWh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8B0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-4.58</c:v>
                </c:pt>
                <c:pt idx="1">
                  <c:v>-1.23</c:v>
                </c:pt>
                <c:pt idx="2">
                  <c:v>-0.31</c:v>
                </c:pt>
                <c:pt idx="3">
                  <c:v>15.72</c:v>
                </c:pt>
                <c:pt idx="4">
                  <c:v>16.82</c:v>
                </c:pt>
                <c:pt idx="5">
                  <c:v>12.35</c:v>
                </c:pt>
                <c:pt idx="6">
                  <c:v>21.96</c:v>
                </c:pt>
                <c:pt idx="7">
                  <c:v>26.28</c:v>
                </c:pt>
                <c:pt idx="8">
                  <c:v>9.41</c:v>
                </c:pt>
                <c:pt idx="9">
                  <c:v>2.85</c:v>
                </c:pt>
                <c:pt idx="10">
                  <c:v>-8.21</c:v>
                </c:pt>
                <c:pt idx="11">
                  <c:v>-12.54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E4D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-6.71</c:v>
                </c:pt>
                <c:pt idx="1">
                  <c:v>1.31</c:v>
                </c:pt>
                <c:pt idx="2">
                  <c:v>13.18</c:v>
                </c:pt>
                <c:pt idx="3">
                  <c:v>19.24</c:v>
                </c:pt>
                <c:pt idx="4">
                  <c:v>21.55</c:v>
                </c:pt>
                <c:pt idx="5">
                  <c:v>13.7</c:v>
                </c:pt>
                <c:pt idx="6">
                  <c:v>18.14</c:v>
                </c:pt>
                <c:pt idx="7">
                  <c:v>12.39</c:v>
                </c:pt>
                <c:pt idx="8">
                  <c:v>11.34</c:v>
                </c:pt>
                <c:pt idx="9">
                  <c:v>3.83</c:v>
                </c:pt>
                <c:pt idx="10">
                  <c:v>-5.57</c:v>
                </c:pt>
                <c:pt idx="11">
                  <c:v>-10.11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D4A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-13.85</c:v>
                </c:pt>
                <c:pt idx="1">
                  <c:v>-2.44</c:v>
                </c:pt>
                <c:pt idx="2">
                  <c:v>10.89</c:v>
                </c:pt>
                <c:pt idx="3">
                  <c:v>27.12</c:v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15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F2 - F1 价差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8B0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北 NORD</c:v>
                  </c:pt>
                  <c:pt idx="1">
                    <c:v>中北 CNOR</c:v>
                  </c:pt>
                  <c:pt idx="2">
                    <c:v>中南 CSUD</c:v>
                  </c:pt>
                  <c:pt idx="3">
                    <c:v>南 SUD</c:v>
                  </c:pt>
                  <c:pt idx="4">
                    <c:v>卡拉布里亚</c:v>
                  </c:pt>
                  <c:pt idx="5">
                    <c:v>西西里</c:v>
                  </c:pt>
                  <c:pt idx="6">
                    <c:v>撒丁岛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107.31</c:v>
                </c:pt>
                <c:pt idx="1">
                  <c:v>109.32</c:v>
                </c:pt>
                <c:pt idx="2">
                  <c:v>109.69</c:v>
                </c:pt>
                <c:pt idx="3">
                  <c:v>109.02</c:v>
                </c:pt>
                <c:pt idx="4">
                  <c:v>109.02</c:v>
                </c:pt>
                <c:pt idx="5">
                  <c:v>112.05</c:v>
                </c:pt>
                <c:pt idx="6">
                  <c:v>106.16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E4D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北 NORD</c:v>
                  </c:pt>
                  <c:pt idx="1">
                    <c:v>中北 CNOR</c:v>
                  </c:pt>
                  <c:pt idx="2">
                    <c:v>中南 CSUD</c:v>
                  </c:pt>
                  <c:pt idx="3">
                    <c:v>南 SUD</c:v>
                  </c:pt>
                  <c:pt idx="4">
                    <c:v>卡拉布里亚</c:v>
                  </c:pt>
                  <c:pt idx="5">
                    <c:v>西西里</c:v>
                  </c:pt>
                  <c:pt idx="6">
                    <c:v>撒丁岛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116.06</c:v>
                </c:pt>
                <c:pt idx="1">
                  <c:v>116.98</c:v>
                </c:pt>
                <c:pt idx="2">
                  <c:v>116.51</c:v>
                </c:pt>
                <c:pt idx="3">
                  <c:v>115.24</c:v>
                </c:pt>
                <c:pt idx="4">
                  <c:v>115.22</c:v>
                </c:pt>
                <c:pt idx="5">
                  <c:v>116.29</c:v>
                </c:pt>
                <c:pt idx="6">
                  <c:v>112.37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 YTD</c:v>
                </c:pt>
              </c:strCache>
            </c:strRef>
          </c:tx>
          <c:spPr>
            <a:solidFill>
              <a:srgbClr val="D4A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北 NORD</c:v>
                  </c:pt>
                  <c:pt idx="1">
                    <c:v>中北 CNOR</c:v>
                  </c:pt>
                  <c:pt idx="2">
                    <c:v>中南 CSUD</c:v>
                  </c:pt>
                  <c:pt idx="3">
                    <c:v>南 SUD</c:v>
                  </c:pt>
                  <c:pt idx="4">
                    <c:v>卡拉布里亚</c:v>
                  </c:pt>
                  <c:pt idx="5">
                    <c:v>西西里</c:v>
                  </c:pt>
                  <c:pt idx="6">
                    <c:v>撒丁岛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131.22</c:v>
                </c:pt>
                <c:pt idx="1">
                  <c:v>131.16</c:v>
                </c:pt>
                <c:pt idx="2">
                  <c:v>129.65</c:v>
                </c:pt>
                <c:pt idx="3">
                  <c:v>124.96</c:v>
                </c:pt>
                <c:pt idx="4">
                  <c:v>124.67</c:v>
                </c:pt>
                <c:pt idx="5">
                  <c:v>127.22</c:v>
                </c:pt>
                <c:pt idx="6">
                  <c:v>125.33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200000"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9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年度均价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北 NORD</c:v>
                </c:pt>
              </c:strCache>
            </c:strRef>
          </c:tx>
          <c:spPr>
            <a:solidFill>
              <a:srgbClr val="0E4D4B"/>
            </a:solidFill>
            <a:ln w="2540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99.34</c:v>
                </c:pt>
                <c:pt idx="1">
                  <c:v>87.91</c:v>
                </c:pt>
                <c:pt idx="2">
                  <c:v>89.32</c:v>
                </c:pt>
                <c:pt idx="3">
                  <c:v>87.28</c:v>
                </c:pt>
                <c:pt idx="4">
                  <c:v>94.16</c:v>
                </c:pt>
                <c:pt idx="5">
                  <c:v>101.39</c:v>
                </c:pt>
                <c:pt idx="6">
                  <c:v>107.61</c:v>
                </c:pt>
                <c:pt idx="7">
                  <c:v>124.47</c:v>
                </c:pt>
                <c:pt idx="8">
                  <c:v>115.78</c:v>
                </c:pt>
                <c:pt idx="9">
                  <c:v>114.41</c:v>
                </c:pt>
                <c:pt idx="10">
                  <c:v>130.67</c:v>
                </c:pt>
                <c:pt idx="11">
                  <c:v>135.34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中北 CNOR</c:v>
                </c:pt>
              </c:strCache>
            </c:strRef>
          </c:tx>
          <c:spPr>
            <a:solidFill>
              <a:srgbClr val="D4A04A"/>
            </a:solidFill>
            <a:ln w="2540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99.34</c:v>
                </c:pt>
                <c:pt idx="1">
                  <c:v>87.91</c:v>
                </c:pt>
                <c:pt idx="2">
                  <c:v>89.35</c:v>
                </c:pt>
                <c:pt idx="3">
                  <c:v>87.08</c:v>
                </c:pt>
                <c:pt idx="4">
                  <c:v>95.52</c:v>
                </c:pt>
                <c:pt idx="5">
                  <c:v>102.54</c:v>
                </c:pt>
                <c:pt idx="6">
                  <c:v>117.44</c:v>
                </c:pt>
                <c:pt idx="7">
                  <c:v>131.32</c:v>
                </c:pt>
                <c:pt idx="8">
                  <c:v>118.88</c:v>
                </c:pt>
                <c:pt idx="9">
                  <c:v>115.49</c:v>
                </c:pt>
                <c:pt idx="10">
                  <c:v>131.2</c:v>
                </c:pt>
                <c:pt idx="11">
                  <c:v>135.72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中南 CSUD</c:v>
                </c:pt>
              </c:strCache>
            </c:strRef>
          </c:tx>
          <c:spPr>
            <a:solidFill>
              <a:srgbClr val="2A7A78"/>
            </a:solidFill>
            <a:ln w="25400" cap="flat">
              <a:solidFill>
                <a:srgbClr val="2A7A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A78"/>
              </a:solidFill>
              <a:ln w="9525" cap="flat">
                <a:solidFill>
                  <a:srgbClr val="2A7A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99.13</c:v>
                </c:pt>
                <c:pt idx="1">
                  <c:v>87.22</c:v>
                </c:pt>
                <c:pt idx="2">
                  <c:v>89.11</c:v>
                </c:pt>
                <c:pt idx="3">
                  <c:v>86.92</c:v>
                </c:pt>
                <c:pt idx="4">
                  <c:v>95.63</c:v>
                </c:pt>
                <c:pt idx="5">
                  <c:v>105.94</c:v>
                </c:pt>
                <c:pt idx="6">
                  <c:v>118.03</c:v>
                </c:pt>
                <c:pt idx="7">
                  <c:v>131.49</c:v>
                </c:pt>
                <c:pt idx="8">
                  <c:v>118.22</c:v>
                </c:pt>
                <c:pt idx="9">
                  <c:v>118.07</c:v>
                </c:pt>
                <c:pt idx="10">
                  <c:v>130.88</c:v>
                </c:pt>
                <c:pt idx="11">
                  <c:v>135.63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南 SUD</c:v>
                </c:pt>
              </c:strCache>
            </c:strRef>
          </c:tx>
          <c:spPr>
            <a:solidFill>
              <a:srgbClr val="5A8F6B"/>
            </a:solidFill>
            <a:ln w="25400" cap="flat">
              <a:solidFill>
                <a:srgbClr val="5A8F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A8F6B"/>
              </a:solidFill>
              <a:ln w="9525" cap="flat">
                <a:solidFill>
                  <a:srgbClr val="5A8F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98.79</c:v>
                </c:pt>
                <c:pt idx="1">
                  <c:v>86.43</c:v>
                </c:pt>
                <c:pt idx="2">
                  <c:v>86.92</c:v>
                </c:pt>
                <c:pt idx="3">
                  <c:v>86.36</c:v>
                </c:pt>
                <c:pt idx="4">
                  <c:v>93.97</c:v>
                </c:pt>
                <c:pt idx="5">
                  <c:v>105.94</c:v>
                </c:pt>
                <c:pt idx="6">
                  <c:v>118.03</c:v>
                </c:pt>
                <c:pt idx="7">
                  <c:v>131.49</c:v>
                </c:pt>
                <c:pt idx="8">
                  <c:v>117.98</c:v>
                </c:pt>
                <c:pt idx="9">
                  <c:v>118.07</c:v>
                </c:pt>
                <c:pt idx="10">
                  <c:v>130.44</c:v>
                </c:pt>
                <c:pt idx="11">
                  <c:v>133.76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卡拉布里亚 CALA</c:v>
                </c:pt>
              </c:strCache>
            </c:strRef>
          </c:tx>
          <c:spPr>
            <a:solidFill>
              <a:srgbClr val="64748B"/>
            </a:solidFill>
            <a:ln w="254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98.4</c:v>
                </c:pt>
                <c:pt idx="1">
                  <c:v>86.25</c:v>
                </c:pt>
                <c:pt idx="2">
                  <c:v>86.87</c:v>
                </c:pt>
                <c:pt idx="3">
                  <c:v>86.15</c:v>
                </c:pt>
                <c:pt idx="4">
                  <c:v>93.97</c:v>
                </c:pt>
                <c:pt idx="5">
                  <c:v>105.84</c:v>
                </c:pt>
                <c:pt idx="6">
                  <c:v>118.03</c:v>
                </c:pt>
                <c:pt idx="7">
                  <c:v>131.66</c:v>
                </c:pt>
                <c:pt idx="8">
                  <c:v>119.39</c:v>
                </c:pt>
                <c:pt idx="9">
                  <c:v>119.02</c:v>
                </c:pt>
                <c:pt idx="10">
                  <c:v>131.15</c:v>
                </c:pt>
                <c:pt idx="11">
                  <c:v>131.48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西西里 SICI</c:v>
                </c:pt>
              </c:strCache>
            </c:strRef>
          </c:tx>
          <c:spPr>
            <a:solidFill>
              <a:srgbClr val="C75450"/>
            </a:solidFill>
            <a:ln w="25400" cap="flat">
              <a:solidFill>
                <a:srgbClr val="C754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75450"/>
              </a:solidFill>
              <a:ln w="9525" cap="flat">
                <a:solidFill>
                  <a:srgbClr val="C754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98.4</c:v>
                </c:pt>
                <c:pt idx="1">
                  <c:v>87.25</c:v>
                </c:pt>
                <c:pt idx="2">
                  <c:v>86.96</c:v>
                </c:pt>
                <c:pt idx="3">
                  <c:v>86.15</c:v>
                </c:pt>
                <c:pt idx="4">
                  <c:v>100.53</c:v>
                </c:pt>
                <c:pt idx="5">
                  <c:v>106.43</c:v>
                </c:pt>
                <c:pt idx="6">
                  <c:v>118.77</c:v>
                </c:pt>
                <c:pt idx="7">
                  <c:v>138.34</c:v>
                </c:pt>
                <c:pt idx="8">
                  <c:v>123.63</c:v>
                </c:pt>
                <c:pt idx="9">
                  <c:v>134.66</c:v>
                </c:pt>
                <c:pt idx="10">
                  <c:v>132.02</c:v>
                </c:pt>
                <c:pt idx="11">
                  <c:v>131.51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撒丁岛 SARD</c:v>
                </c:pt>
              </c:strCache>
            </c:strRef>
          </c:tx>
          <c:spPr>
            <a:solidFill>
              <a:srgbClr val="A8B0AC"/>
            </a:solidFill>
            <a:ln w="25400" cap="flat">
              <a:solidFill>
                <a:srgbClr val="A8B0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8B0AC"/>
              </a:solidFill>
              <a:ln w="9525" cap="flat">
                <a:solidFill>
                  <a:srgbClr val="A8B0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97.56</c:v>
                </c:pt>
                <c:pt idx="1">
                  <c:v>86.78</c:v>
                </c:pt>
                <c:pt idx="2">
                  <c:v>80.98</c:v>
                </c:pt>
                <c:pt idx="3">
                  <c:v>76.87</c:v>
                </c:pt>
                <c:pt idx="4">
                  <c:v>91.63</c:v>
                </c:pt>
                <c:pt idx="5">
                  <c:v>104.67</c:v>
                </c:pt>
                <c:pt idx="6">
                  <c:v>111.9</c:v>
                </c:pt>
                <c:pt idx="7">
                  <c:v>131.3</c:v>
                </c:pt>
                <c:pt idx="8">
                  <c:v>111.57</c:v>
                </c:pt>
                <c:pt idx="9">
                  <c:v>113.88</c:v>
                </c:pt>
                <c:pt idx="10">
                  <c:v>130.88</c:v>
                </c:pt>
                <c:pt idx="11">
                  <c:v>134.9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7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北 NORD</c:v>
                </c:pt>
              </c:strCache>
            </c:strRef>
          </c:tx>
          <c:spPr>
            <a:solidFill>
              <a:srgbClr val="0E4D4B"/>
            </a:solidFill>
            <a:ln w="2540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143.32</c:v>
                </c:pt>
                <c:pt idx="1">
                  <c:v>150.56</c:v>
                </c:pt>
                <c:pt idx="2">
                  <c:v>121.08</c:v>
                </c:pt>
                <c:pt idx="3">
                  <c:v>100.27</c:v>
                </c:pt>
                <c:pt idx="4">
                  <c:v>93.79</c:v>
                </c:pt>
                <c:pt idx="5">
                  <c:v>110.3</c:v>
                </c:pt>
                <c:pt idx="6">
                  <c:v>112.64</c:v>
                </c:pt>
                <c:pt idx="7">
                  <c:v>107.38</c:v>
                </c:pt>
                <c:pt idx="8">
                  <c:v>107.49</c:v>
                </c:pt>
                <c:pt idx="9">
                  <c:v>112.12</c:v>
                </c:pt>
                <c:pt idx="10">
                  <c:v>118.25</c:v>
                </c:pt>
                <c:pt idx="11">
                  <c:v>115.5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中北 CNOR</c:v>
                </c:pt>
              </c:strCache>
            </c:strRef>
          </c:tx>
          <c:spPr>
            <a:solidFill>
              <a:srgbClr val="D4A04A"/>
            </a:solidFill>
            <a:ln w="2540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143.56</c:v>
                </c:pt>
                <c:pt idx="1">
                  <c:v>150.67</c:v>
                </c:pt>
                <c:pt idx="2">
                  <c:v>121.14</c:v>
                </c:pt>
                <c:pt idx="3">
                  <c:v>100.37</c:v>
                </c:pt>
                <c:pt idx="4">
                  <c:v>94.4</c:v>
                </c:pt>
                <c:pt idx="5">
                  <c:v>111.67</c:v>
                </c:pt>
                <c:pt idx="6">
                  <c:v>114.45</c:v>
                </c:pt>
                <c:pt idx="7">
                  <c:v>110.73</c:v>
                </c:pt>
                <c:pt idx="8">
                  <c:v>110.26</c:v>
                </c:pt>
                <c:pt idx="9">
                  <c:v>112.36</c:v>
                </c:pt>
                <c:pt idx="10">
                  <c:v>118.31</c:v>
                </c:pt>
                <c:pt idx="11">
                  <c:v>115.79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中南 CSUD</c:v>
                </c:pt>
              </c:strCache>
            </c:strRef>
          </c:tx>
          <c:spPr>
            <a:solidFill>
              <a:srgbClr val="2A7A78"/>
            </a:solidFill>
            <a:ln w="25400" cap="flat">
              <a:solidFill>
                <a:srgbClr val="2A7A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A7A78"/>
              </a:solidFill>
              <a:ln w="9525" cap="flat">
                <a:solidFill>
                  <a:srgbClr val="2A7A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143.12</c:v>
                </c:pt>
                <c:pt idx="1">
                  <c:v>150.04</c:v>
                </c:pt>
                <c:pt idx="2">
                  <c:v>119.5</c:v>
                </c:pt>
                <c:pt idx="3">
                  <c:v>99.76</c:v>
                </c:pt>
                <c:pt idx="4">
                  <c:v>93.15</c:v>
                </c:pt>
                <c:pt idx="5">
                  <c:v>114.26</c:v>
                </c:pt>
                <c:pt idx="6">
                  <c:v>114.58</c:v>
                </c:pt>
                <c:pt idx="7">
                  <c:v>110.73</c:v>
                </c:pt>
                <c:pt idx="8">
                  <c:v>110.26</c:v>
                </c:pt>
                <c:pt idx="9">
                  <c:v>112.03</c:v>
                </c:pt>
                <c:pt idx="10">
                  <c:v>115.13</c:v>
                </c:pt>
                <c:pt idx="11">
                  <c:v>115.58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南 SUD</c:v>
                </c:pt>
              </c:strCache>
            </c:strRef>
          </c:tx>
          <c:spPr>
            <a:solidFill>
              <a:srgbClr val="5A8F6B"/>
            </a:solidFill>
            <a:ln w="25400" cap="flat">
              <a:solidFill>
                <a:srgbClr val="5A8F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5A8F6B"/>
              </a:solidFill>
              <a:ln w="9525" cap="flat">
                <a:solidFill>
                  <a:srgbClr val="5A8F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142.16</c:v>
                </c:pt>
                <c:pt idx="1">
                  <c:v>150.04</c:v>
                </c:pt>
                <c:pt idx="2">
                  <c:v>118.36</c:v>
                </c:pt>
                <c:pt idx="3">
                  <c:v>99.18</c:v>
                </c:pt>
                <c:pt idx="4">
                  <c:v>93.11</c:v>
                </c:pt>
                <c:pt idx="5">
                  <c:v>113.93</c:v>
                </c:pt>
                <c:pt idx="6">
                  <c:v>112.57</c:v>
                </c:pt>
                <c:pt idx="7">
                  <c:v>110.69</c:v>
                </c:pt>
                <c:pt idx="8">
                  <c:v>110.21</c:v>
                </c:pt>
                <c:pt idx="9">
                  <c:v>104.02</c:v>
                </c:pt>
                <c:pt idx="10">
                  <c:v>113.67</c:v>
                </c:pt>
                <c:pt idx="11">
                  <c:v>114.9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卡拉布里亚 CALA</c:v>
                </c:pt>
              </c:strCache>
            </c:strRef>
          </c:tx>
          <c:spPr>
            <a:solidFill>
              <a:srgbClr val="64748B"/>
            </a:solidFill>
            <a:ln w="254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141.29</c:v>
                </c:pt>
                <c:pt idx="1">
                  <c:v>148.92</c:v>
                </c:pt>
                <c:pt idx="2">
                  <c:v>118.36</c:v>
                </c:pt>
                <c:pt idx="3">
                  <c:v>99.18</c:v>
                </c:pt>
                <c:pt idx="4">
                  <c:v>93.21</c:v>
                </c:pt>
                <c:pt idx="5">
                  <c:v>113.94</c:v>
                </c:pt>
                <c:pt idx="6">
                  <c:v>112.44</c:v>
                </c:pt>
                <c:pt idx="7">
                  <c:v>110.69</c:v>
                </c:pt>
                <c:pt idx="8">
                  <c:v>111.13</c:v>
                </c:pt>
                <c:pt idx="9">
                  <c:v>105.4</c:v>
                </c:pt>
                <c:pt idx="10">
                  <c:v>113.37</c:v>
                </c:pt>
                <c:pt idx="11">
                  <c:v>114.69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西西里 SICI</c:v>
                </c:pt>
              </c:strCache>
            </c:strRef>
          </c:tx>
          <c:spPr>
            <a:solidFill>
              <a:srgbClr val="C75450"/>
            </a:solidFill>
            <a:ln w="25400" cap="flat">
              <a:solidFill>
                <a:srgbClr val="C754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C75450"/>
              </a:solidFill>
              <a:ln w="9525" cap="flat">
                <a:solidFill>
                  <a:srgbClr val="C754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141.38</c:v>
                </c:pt>
                <c:pt idx="1">
                  <c:v>151.11</c:v>
                </c:pt>
                <c:pt idx="2">
                  <c:v>118.63</c:v>
                </c:pt>
                <c:pt idx="3">
                  <c:v>99.16</c:v>
                </c:pt>
                <c:pt idx="4">
                  <c:v>93.57</c:v>
                </c:pt>
                <c:pt idx="5">
                  <c:v>114.36</c:v>
                </c:pt>
                <c:pt idx="6">
                  <c:v>114.33</c:v>
                </c:pt>
                <c:pt idx="7">
                  <c:v>111.86</c:v>
                </c:pt>
                <c:pt idx="8">
                  <c:v>116.44</c:v>
                </c:pt>
                <c:pt idx="9">
                  <c:v>105.88</c:v>
                </c:pt>
                <c:pt idx="10">
                  <c:v>113.73</c:v>
                </c:pt>
                <c:pt idx="11">
                  <c:v>115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撒丁岛 SARD</c:v>
                </c:pt>
              </c:strCache>
            </c:strRef>
          </c:tx>
          <c:spPr>
            <a:solidFill>
              <a:srgbClr val="A8B0AC"/>
            </a:solidFill>
            <a:ln w="25400" cap="flat">
              <a:solidFill>
                <a:srgbClr val="A8B0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A8B0AC"/>
              </a:solidFill>
              <a:ln w="9525" cap="flat">
                <a:solidFill>
                  <a:srgbClr val="A8B0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Sheet1!$H$2:$H$13</c:f>
              <c:numCache>
                <c:formatCode>General</c:formatCode>
                <c:ptCount val="12"/>
                <c:pt idx="0">
                  <c:v>139.63</c:v>
                </c:pt>
                <c:pt idx="1">
                  <c:v>146.29</c:v>
                </c:pt>
                <c:pt idx="2">
                  <c:v>117.09</c:v>
                </c:pt>
                <c:pt idx="3">
                  <c:v>92.58</c:v>
                </c:pt>
                <c:pt idx="4">
                  <c:v>88.58</c:v>
                </c:pt>
                <c:pt idx="5">
                  <c:v>113.34</c:v>
                </c:pt>
                <c:pt idx="6">
                  <c:v>106.56</c:v>
                </c:pt>
                <c:pt idx="7">
                  <c:v>101.85</c:v>
                </c:pt>
                <c:pt idx="8">
                  <c:v>107.63</c:v>
                </c:pt>
                <c:pt idx="9">
                  <c:v>105.12</c:v>
                </c:pt>
                <c:pt idx="10">
                  <c:v>114.4</c:v>
                </c:pt>
                <c:pt idx="11">
                  <c:v>115.39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8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北 NORD</c:v>
                </c:pt>
              </c:strCache>
            </c:strRef>
          </c:tx>
          <c:spPr>
            <a:solidFill>
              <a:srgbClr val="0E4D4B"/>
            </a:solidFill>
            <a:ln w="3810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133.8</c:v>
                </c:pt>
                <c:pt idx="1">
                  <c:v>115.89</c:v>
                </c:pt>
                <c:pt idx="2">
                  <c:v>143.96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中北 CNOR</c:v>
                </c:pt>
              </c:strCache>
            </c:strRef>
          </c:tx>
          <c:spPr>
            <a:solidFill>
              <a:srgbClr val="D4A04A"/>
            </a:solidFill>
            <a:ln w="3810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133.87</c:v>
                </c:pt>
                <c:pt idx="1">
                  <c:v>115.64</c:v>
                </c:pt>
                <c:pt idx="2">
                  <c:v>143.97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中南 CSUD</c:v>
                </c:pt>
              </c:strCache>
            </c:strRef>
          </c:tx>
          <c:spPr>
            <a:solidFill>
              <a:srgbClr val="2A7A78"/>
            </a:solidFill>
            <a:ln w="38100" cap="flat">
              <a:solidFill>
                <a:srgbClr val="2A7A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A7A78"/>
              </a:solidFill>
              <a:ln w="9525" cap="flat">
                <a:solidFill>
                  <a:srgbClr val="2A7A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132.1</c:v>
                </c:pt>
                <c:pt idx="1">
                  <c:v>113.37</c:v>
                </c:pt>
                <c:pt idx="2">
                  <c:v>143.48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南 SUD</c:v>
                </c:pt>
              </c:strCache>
            </c:strRef>
          </c:tx>
          <c:spPr>
            <a:solidFill>
              <a:srgbClr val="5A8F6B"/>
            </a:solidFill>
            <a:ln w="38100" cap="flat">
              <a:solidFill>
                <a:srgbClr val="5A8F6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A8F6B"/>
              </a:solidFill>
              <a:ln w="9525" cap="flat">
                <a:solidFill>
                  <a:srgbClr val="5A8F6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127.55</c:v>
                </c:pt>
                <c:pt idx="1">
                  <c:v>109.15</c:v>
                </c:pt>
                <c:pt idx="2">
                  <c:v>138.19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卡拉布里亚 CALA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</c:lvl>
              </c:multiLvlStrCache>
            </c:multiLvlStrRef>
          </c:cat>
          <c:val>
            <c:numRef>
              <c:f>Sheet1!$F$2:$F$4</c:f>
              <c:numCache>
                <c:formatCode>General</c:formatCode>
                <c:ptCount val="3"/>
                <c:pt idx="0">
                  <c:v>127.49</c:v>
                </c:pt>
                <c:pt idx="1">
                  <c:v>108.51</c:v>
                </c:pt>
                <c:pt idx="2">
                  <c:v>138.02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西西里 SICI</c:v>
                </c:pt>
              </c:strCache>
            </c:strRef>
          </c:tx>
          <c:spPr>
            <a:solidFill>
              <a:srgbClr val="C75450"/>
            </a:solidFill>
            <a:ln w="38100" cap="flat">
              <a:solidFill>
                <a:srgbClr val="C754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75450"/>
              </a:solidFill>
              <a:ln w="9525" cap="flat">
                <a:solidFill>
                  <a:srgbClr val="C754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</c:lvl>
              </c:multiLvlStrCache>
            </c:multiLvlStrRef>
          </c:cat>
          <c:val>
            <c:numRef>
              <c:f>Sheet1!$G$2:$G$4</c:f>
              <c:numCache>
                <c:formatCode>General</c:formatCode>
                <c:ptCount val="3"/>
                <c:pt idx="0">
                  <c:v>127.49</c:v>
                </c:pt>
                <c:pt idx="1">
                  <c:v>107.79</c:v>
                </c:pt>
                <c:pt idx="2">
                  <c:v>146.37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Sheet1!$H$1</c:f>
              <c:strCache>
                <c:ptCount val="1"/>
                <c:pt idx="0">
                  <c:v>撒丁岛 SARD</c:v>
                </c:pt>
              </c:strCache>
            </c:strRef>
          </c:tx>
          <c:spPr>
            <a:solidFill>
              <a:srgbClr val="A8B0AC"/>
            </a:solidFill>
            <a:ln w="38100" cap="flat">
              <a:solidFill>
                <a:srgbClr val="A8B0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A8B0AC"/>
              </a:solidFill>
              <a:ln w="9525" cap="flat">
                <a:solidFill>
                  <a:srgbClr val="A8B0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</c:lvl>
              </c:multiLvlStrCache>
            </c:multiLvlStrRef>
          </c:cat>
          <c:val>
            <c:numRef>
              <c:f>Sheet1!$H$2:$H$4</c:f>
              <c:numCache>
                <c:formatCode>General</c:formatCode>
                <c:ptCount val="3"/>
                <c:pt idx="0">
                  <c:v>132.04</c:v>
                </c:pt>
                <c:pt idx="1">
                  <c:v>112.62</c:v>
                </c:pt>
                <c:pt idx="2">
                  <c:v>131.33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5"/>
          <c:min val="10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8B0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1.78</c:v>
                </c:pt>
                <c:pt idx="1">
                  <c:v>1.66</c:v>
                </c:pt>
                <c:pt idx="2">
                  <c:v>8.37</c:v>
                </c:pt>
                <c:pt idx="3">
                  <c:v>10.41</c:v>
                </c:pt>
                <c:pt idx="4">
                  <c:v>8.9</c:v>
                </c:pt>
                <c:pt idx="5">
                  <c:v>5.04</c:v>
                </c:pt>
                <c:pt idx="6">
                  <c:v>11.16</c:v>
                </c:pt>
                <c:pt idx="7">
                  <c:v>13.87</c:v>
                </c:pt>
                <c:pt idx="8">
                  <c:v>12.06</c:v>
                </c:pt>
                <c:pt idx="9">
                  <c:v>20.78</c:v>
                </c:pt>
                <c:pt idx="10">
                  <c:v>1.58</c:v>
                </c:pt>
                <c:pt idx="11">
                  <c:v>4.24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E4D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3.93</c:v>
                </c:pt>
                <c:pt idx="1">
                  <c:v>4.82</c:v>
                </c:pt>
                <c:pt idx="2">
                  <c:v>4.05</c:v>
                </c:pt>
                <c:pt idx="3">
                  <c:v>7.79</c:v>
                </c:pt>
                <c:pt idx="4">
                  <c:v>5.82</c:v>
                </c:pt>
                <c:pt idx="5">
                  <c:v>4.06</c:v>
                </c:pt>
                <c:pt idx="6">
                  <c:v>8.02</c:v>
                </c:pt>
                <c:pt idx="7">
                  <c:v>10.01</c:v>
                </c:pt>
                <c:pt idx="8">
                  <c:v>8.95</c:v>
                </c:pt>
                <c:pt idx="9">
                  <c:v>8.34</c:v>
                </c:pt>
                <c:pt idx="10">
                  <c:v>4.94</c:v>
                </c:pt>
                <c:pt idx="11">
                  <c:v>1.1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D4A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6.38</c:v>
                </c:pt>
                <c:pt idx="1">
                  <c:v>8.1</c:v>
                </c:pt>
                <c:pt idx="2">
                  <c:v>15.04</c:v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  <c:min val="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Max - Min 价差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NORD 2025</c:v>
                </c:pt>
              </c:strCache>
            </c:strRef>
          </c:tx>
          <c:spPr>
            <a:solidFill>
              <a:srgbClr val="0E4D4B"/>
            </a:solidFill>
            <a:ln w="3810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143.32</c:v>
                </c:pt>
                <c:pt idx="1">
                  <c:v>150.56</c:v>
                </c:pt>
                <c:pt idx="2">
                  <c:v>121.08</c:v>
                </c:pt>
                <c:pt idx="3">
                  <c:v>100.27</c:v>
                </c:pt>
                <c:pt idx="4">
                  <c:v>93.79</c:v>
                </c:pt>
                <c:pt idx="5">
                  <c:v>110.3</c:v>
                </c:pt>
                <c:pt idx="6">
                  <c:v>112.64</c:v>
                </c:pt>
                <c:pt idx="7">
                  <c:v>107.38</c:v>
                </c:pt>
                <c:pt idx="8">
                  <c:v>107.49</c:v>
                </c:pt>
                <c:pt idx="9">
                  <c:v>112.12</c:v>
                </c:pt>
                <c:pt idx="10">
                  <c:v>118.25</c:v>
                </c:pt>
                <c:pt idx="11">
                  <c:v>115.5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SARD 2025</c:v>
                </c:pt>
              </c:strCache>
            </c:strRef>
          </c:tx>
          <c:spPr>
            <a:solidFill>
              <a:srgbClr val="A8B0AC"/>
            </a:solidFill>
            <a:ln w="38100" cap="flat">
              <a:solidFill>
                <a:srgbClr val="A8B0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8B0AC"/>
              </a:solidFill>
              <a:ln w="9525" cap="flat">
                <a:solidFill>
                  <a:srgbClr val="A8B0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139.63</c:v>
                </c:pt>
                <c:pt idx="1">
                  <c:v>146.29</c:v>
                </c:pt>
                <c:pt idx="2">
                  <c:v>117.09</c:v>
                </c:pt>
                <c:pt idx="3">
                  <c:v>92.58</c:v>
                </c:pt>
                <c:pt idx="4">
                  <c:v>88.58</c:v>
                </c:pt>
                <c:pt idx="5">
                  <c:v>113.34</c:v>
                </c:pt>
                <c:pt idx="6">
                  <c:v>106.56</c:v>
                </c:pt>
                <c:pt idx="7">
                  <c:v>101.85</c:v>
                </c:pt>
                <c:pt idx="8">
                  <c:v>107.63</c:v>
                </c:pt>
                <c:pt idx="9">
                  <c:v>105.12</c:v>
                </c:pt>
                <c:pt idx="10">
                  <c:v>114.4</c:v>
                </c:pt>
                <c:pt idx="11">
                  <c:v>115.39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8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A8B0A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1.78</c:v>
                </c:pt>
                <c:pt idx="1">
                  <c:v>1.13</c:v>
                </c:pt>
                <c:pt idx="2">
                  <c:v>8.34</c:v>
                </c:pt>
                <c:pt idx="3">
                  <c:v>10.41</c:v>
                </c:pt>
                <c:pt idx="4">
                  <c:v>2.53</c:v>
                </c:pt>
                <c:pt idx="5">
                  <c:v>-3.28</c:v>
                </c:pt>
                <c:pt idx="6">
                  <c:v>-4.29</c:v>
                </c:pt>
                <c:pt idx="7">
                  <c:v>-6.83</c:v>
                </c:pt>
                <c:pt idx="8">
                  <c:v>4.21</c:v>
                </c:pt>
                <c:pt idx="9">
                  <c:v>0.53</c:v>
                </c:pt>
                <c:pt idx="10">
                  <c:v>-0.21</c:v>
                </c:pt>
                <c:pt idx="11">
                  <c:v>0.44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D4A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  <c:pt idx="6">
                    <c:v>7月</c:v>
                  </c:pt>
                  <c:pt idx="7">
                    <c:v>8月</c:v>
                  </c:pt>
                  <c:pt idx="8">
                    <c:v>9月</c:v>
                  </c:pt>
                  <c:pt idx="9">
                    <c:v>10月</c:v>
                  </c:pt>
                  <c:pt idx="10">
                    <c:v>11月</c:v>
                  </c:pt>
                  <c:pt idx="11">
                    <c:v>12月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3.69</c:v>
                </c:pt>
                <c:pt idx="1">
                  <c:v>4.27</c:v>
                </c:pt>
                <c:pt idx="2">
                  <c:v>3.99</c:v>
                </c:pt>
                <c:pt idx="3">
                  <c:v>7.69</c:v>
                </c:pt>
                <c:pt idx="4">
                  <c:v>5.21</c:v>
                </c:pt>
                <c:pt idx="5">
                  <c:v>-3.04</c:v>
                </c:pt>
                <c:pt idx="6">
                  <c:v>6.08</c:v>
                </c:pt>
                <c:pt idx="7">
                  <c:v>5.53</c:v>
                </c:pt>
                <c:pt idx="8">
                  <c:v>-0.14</c:v>
                </c:pt>
                <c:pt idx="9">
                  <c:v>7</c:v>
                </c:pt>
                <c:pt idx="10">
                  <c:v>3.85</c:v>
                </c:pt>
                <c:pt idx="11">
                  <c:v>0.11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NORD - SARD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SICI - NORD</c:v>
                </c:pt>
              </c:strCache>
            </c:strRef>
          </c:tx>
          <c:spPr>
            <a:solidFill>
              <a:srgbClr val="C7545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Sheet1!$A$2:$A$25</c:f>
              <c:multiLvlStrCache>
                <c:ptCount val="24"/>
                <c:lvl>
                  <c:pt idx="0">
                    <c:v>24-1月</c:v>
                  </c:pt>
                  <c:pt idx="1">
                    <c:v>24-2月</c:v>
                  </c:pt>
                  <c:pt idx="2">
                    <c:v>24-3月</c:v>
                  </c:pt>
                  <c:pt idx="3">
                    <c:v>24-4月</c:v>
                  </c:pt>
                  <c:pt idx="4">
                    <c:v>24-5月</c:v>
                  </c:pt>
                  <c:pt idx="5">
                    <c:v>24-6月</c:v>
                  </c:pt>
                  <c:pt idx="6">
                    <c:v>24-7月</c:v>
                  </c:pt>
                  <c:pt idx="7">
                    <c:v>24-8月</c:v>
                  </c:pt>
                  <c:pt idx="8">
                    <c:v>24-9月</c:v>
                  </c:pt>
                  <c:pt idx="9">
                    <c:v>24-10月</c:v>
                  </c:pt>
                  <c:pt idx="10">
                    <c:v>24-11月</c:v>
                  </c:pt>
                  <c:pt idx="11">
                    <c:v>24-12月</c:v>
                  </c:pt>
                  <c:pt idx="12">
                    <c:v>25-1月</c:v>
                  </c:pt>
                  <c:pt idx="13">
                    <c:v>25-2月</c:v>
                  </c:pt>
                  <c:pt idx="14">
                    <c:v>25-3月</c:v>
                  </c:pt>
                  <c:pt idx="15">
                    <c:v>25-4月</c:v>
                  </c:pt>
                  <c:pt idx="16">
                    <c:v>25-5月</c:v>
                  </c:pt>
                  <c:pt idx="17">
                    <c:v>25-6月</c:v>
                  </c:pt>
                  <c:pt idx="18">
                    <c:v>25-7月</c:v>
                  </c:pt>
                  <c:pt idx="19">
                    <c:v>25-8月</c:v>
                  </c:pt>
                  <c:pt idx="20">
                    <c:v>25-9月</c:v>
                  </c:pt>
                  <c:pt idx="21">
                    <c:v>25-10月</c:v>
                  </c:pt>
                  <c:pt idx="22">
                    <c:v>25-11月</c:v>
                  </c:pt>
                  <c:pt idx="23">
                    <c:v>25-12月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-0.94</c:v>
                </c:pt>
                <c:pt idx="1">
                  <c:v>-0.66</c:v>
                </c:pt>
                <c:pt idx="2">
                  <c:v>-2.36</c:v>
                </c:pt>
                <c:pt idx="3">
                  <c:v>-1.13</c:v>
                </c:pt>
                <c:pt idx="4">
                  <c:v>6.37</c:v>
                </c:pt>
                <c:pt idx="5">
                  <c:v>5.04</c:v>
                </c:pt>
                <c:pt idx="6">
                  <c:v>11.16</c:v>
                </c:pt>
                <c:pt idx="7">
                  <c:v>13.87</c:v>
                </c:pt>
                <c:pt idx="8">
                  <c:v>7.85</c:v>
                </c:pt>
                <c:pt idx="9">
                  <c:v>20.25</c:v>
                </c:pt>
                <c:pt idx="10">
                  <c:v>1.35</c:v>
                </c:pt>
                <c:pt idx="11">
                  <c:v>-3.83</c:v>
                </c:pt>
                <c:pt idx="12">
                  <c:v>-1.94</c:v>
                </c:pt>
                <c:pt idx="13">
                  <c:v>0.55</c:v>
                </c:pt>
                <c:pt idx="14">
                  <c:v>-2.45</c:v>
                </c:pt>
                <c:pt idx="15">
                  <c:v>-1.11</c:v>
                </c:pt>
                <c:pt idx="16">
                  <c:v>-0.22</c:v>
                </c:pt>
                <c:pt idx="17">
                  <c:v>4.06</c:v>
                </c:pt>
                <c:pt idx="18">
                  <c:v>1.69</c:v>
                </c:pt>
                <c:pt idx="19">
                  <c:v>4.48</c:v>
                </c:pt>
                <c:pt idx="20">
                  <c:v>8.95</c:v>
                </c:pt>
                <c:pt idx="21">
                  <c:v>-6.24</c:v>
                </c:pt>
                <c:pt idx="22">
                  <c:v>-4.52</c:v>
                </c:pt>
                <c:pt idx="23">
                  <c:v>-0.5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7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-1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SICI − NORD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冬季典型日内 PUN</c:v>
                </c:pt>
              </c:strCache>
            </c:strRef>
          </c:tx>
          <c:spPr>
            <a:solidFill>
              <a:srgbClr val="0E4D4B"/>
            </a:solidFill>
            <a:ln w="3810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125</c:v>
                </c:pt>
                <c:pt idx="1">
                  <c:v>122</c:v>
                </c:pt>
                <c:pt idx="2">
                  <c:v>120</c:v>
                </c:pt>
                <c:pt idx="3">
                  <c:v>118</c:v>
                </c:pt>
                <c:pt idx="4">
                  <c:v>118</c:v>
                </c:pt>
                <c:pt idx="5">
                  <c:v>122</c:v>
                </c:pt>
                <c:pt idx="6">
                  <c:v>130</c:v>
                </c:pt>
                <c:pt idx="7">
                  <c:v>148</c:v>
                </c:pt>
                <c:pt idx="8">
                  <c:v>162</c:v>
                </c:pt>
                <c:pt idx="9">
                  <c:v>165</c:v>
                </c:pt>
                <c:pt idx="10">
                  <c:v>160</c:v>
                </c:pt>
                <c:pt idx="11">
                  <c:v>155</c:v>
                </c:pt>
                <c:pt idx="12">
                  <c:v>150</c:v>
                </c:pt>
                <c:pt idx="13">
                  <c:v>148</c:v>
                </c:pt>
                <c:pt idx="14">
                  <c:v>152</c:v>
                </c:pt>
                <c:pt idx="15">
                  <c:v>158</c:v>
                </c:pt>
                <c:pt idx="16">
                  <c:v>165</c:v>
                </c:pt>
                <c:pt idx="17">
                  <c:v>175</c:v>
                </c:pt>
                <c:pt idx="18">
                  <c:v>178</c:v>
                </c:pt>
                <c:pt idx="19">
                  <c:v>175</c:v>
                </c:pt>
                <c:pt idx="20">
                  <c:v>168</c:v>
                </c:pt>
                <c:pt idx="21">
                  <c:v>162</c:v>
                </c:pt>
                <c:pt idx="22">
                  <c:v>150</c:v>
                </c:pt>
                <c:pt idx="23">
                  <c:v>135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小时 (h)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0"/>
          <c:min val="10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代表性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夏季鸭子曲线 PUN</c:v>
                </c:pt>
              </c:strCache>
            </c:strRef>
          </c:tx>
          <c:spPr>
            <a:solidFill>
              <a:srgbClr val="D4A04A"/>
            </a:solidFill>
            <a:ln w="3810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Sheet1!$A$2:$A$25</c:f>
              <c:multiLvlStrCache>
                <c:ptCount val="24"/>
                <c:lvl>
                  <c:pt idx="0">
                    <c:v>00</c:v>
                  </c:pt>
                  <c:pt idx="1">
                    <c:v>01</c:v>
                  </c:pt>
                  <c:pt idx="2">
                    <c:v>02</c:v>
                  </c:pt>
                  <c:pt idx="3">
                    <c:v>03</c:v>
                  </c:pt>
                  <c:pt idx="4">
                    <c:v>04</c:v>
                  </c:pt>
                  <c:pt idx="5">
                    <c:v>05</c:v>
                  </c:pt>
                  <c:pt idx="6">
                    <c:v>06</c:v>
                  </c:pt>
                  <c:pt idx="7">
                    <c:v>07</c:v>
                  </c:pt>
                  <c:pt idx="8">
                    <c:v>08</c:v>
                  </c:pt>
                  <c:pt idx="9">
                    <c:v>09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</c:lvl>
              </c:multiLvlStrCache>
            </c:multiLvl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85</c:v>
                </c:pt>
                <c:pt idx="1">
                  <c:v>82</c:v>
                </c:pt>
                <c:pt idx="2">
                  <c:v>80</c:v>
                </c:pt>
                <c:pt idx="3">
                  <c:v>78</c:v>
                </c:pt>
                <c:pt idx="4">
                  <c:v>78</c:v>
                </c:pt>
                <c:pt idx="5">
                  <c:v>82</c:v>
                </c:pt>
                <c:pt idx="6">
                  <c:v>88</c:v>
                </c:pt>
                <c:pt idx="7">
                  <c:v>95</c:v>
                </c:pt>
                <c:pt idx="8">
                  <c:v>90</c:v>
                </c:pt>
                <c:pt idx="9">
                  <c:v>75</c:v>
                </c:pt>
                <c:pt idx="10">
                  <c:v>55</c:v>
                </c:pt>
                <c:pt idx="11">
                  <c:v>40</c:v>
                </c:pt>
                <c:pt idx="12">
                  <c:v>35</c:v>
                </c:pt>
                <c:pt idx="13">
                  <c:v>38</c:v>
                </c:pt>
                <c:pt idx="14">
                  <c:v>50</c:v>
                </c:pt>
                <c:pt idx="15">
                  <c:v>65</c:v>
                </c:pt>
                <c:pt idx="16">
                  <c:v>80</c:v>
                </c:pt>
                <c:pt idx="17">
                  <c:v>100</c:v>
                </c:pt>
                <c:pt idx="18">
                  <c:v>125</c:v>
                </c:pt>
                <c:pt idx="19">
                  <c:v>140</c:v>
                </c:pt>
                <c:pt idx="20">
                  <c:v>130</c:v>
                </c:pt>
                <c:pt idx="21">
                  <c:v>120</c:v>
                </c:pt>
                <c:pt idx="22">
                  <c:v>105</c:v>
                </c:pt>
                <c:pt idx="23">
                  <c:v>92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小时 (h)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"/>
          <c:min val="2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代表性 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60min MTU (旧)</c:v>
                </c:pt>
              </c:strCache>
            </c:strRef>
          </c:tx>
          <c:spPr>
            <a:solidFill>
              <a:srgbClr val="A8B0AC"/>
            </a:solidFill>
            <a:ln w="38100" cap="flat">
              <a:solidFill>
                <a:srgbClr val="A8B0A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4A5959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A8B0AC"/>
              </a:solidFill>
              <a:ln w="9525" cap="flat">
                <a:solidFill>
                  <a:srgbClr val="A8B0A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12:00</c:v>
                  </c:pt>
                  <c:pt idx="1">
                    <c:v>13:00</c:v>
                  </c:pt>
                  <c:pt idx="2">
                    <c:v>14:00</c:v>
                  </c:pt>
                  <c:pt idx="3">
                    <c:v>15:00</c:v>
                  </c:pt>
                  <c:pt idx="4">
                    <c:v>16:00</c:v>
                  </c:pt>
                  <c:pt idx="5">
                    <c:v>17:00</c:v>
                  </c:pt>
                  <c:pt idx="6">
                    <c:v>18:00</c:v>
                  </c:pt>
                  <c:pt idx="7">
                    <c:v>19:00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55</c:v>
                </c:pt>
                <c:pt idx="1">
                  <c:v>45</c:v>
                </c:pt>
                <c:pt idx="2">
                  <c:v>38</c:v>
                </c:pt>
                <c:pt idx="3">
                  <c:v>45</c:v>
                </c:pt>
                <c:pt idx="4">
                  <c:v>65</c:v>
                </c:pt>
                <c:pt idx="5">
                  <c:v>90</c:v>
                </c:pt>
                <c:pt idx="6">
                  <c:v>115</c:v>
                </c:pt>
                <c:pt idx="7">
                  <c:v>140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4A5959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时间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2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15min MTU (新)</c:v>
                </c:pt>
              </c:strCache>
            </c:strRef>
          </c:tx>
          <c:spPr>
            <a:solidFill>
              <a:srgbClr val="D4A04A"/>
            </a:solidFill>
            <a:ln w="3175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Sheet1!$A$2:$A$33</c:f>
              <c:multiLvlStrCache>
                <c:ptCount val="32"/>
                <c:lvl>
                  <c:pt idx="0">
                    <c:v>12:00</c:v>
                  </c:pt>
                  <c:pt idx="1">
                    <c:v>12:15</c:v>
                  </c:pt>
                  <c:pt idx="2">
                    <c:v>12:30</c:v>
                  </c:pt>
                  <c:pt idx="3">
                    <c:v>12:45</c:v>
                  </c:pt>
                  <c:pt idx="4">
                    <c:v>13:00</c:v>
                  </c:pt>
                  <c:pt idx="5">
                    <c:v>13:15</c:v>
                  </c:pt>
                  <c:pt idx="6">
                    <c:v>13:30</c:v>
                  </c:pt>
                  <c:pt idx="7">
                    <c:v>13:45</c:v>
                  </c:pt>
                  <c:pt idx="8">
                    <c:v>14:00</c:v>
                  </c:pt>
                  <c:pt idx="9">
                    <c:v>14:15</c:v>
                  </c:pt>
                  <c:pt idx="10">
                    <c:v>14:30</c:v>
                  </c:pt>
                  <c:pt idx="11">
                    <c:v>14:45</c:v>
                  </c:pt>
                  <c:pt idx="12">
                    <c:v>15:00</c:v>
                  </c:pt>
                  <c:pt idx="13">
                    <c:v>15:15</c:v>
                  </c:pt>
                  <c:pt idx="14">
                    <c:v>15:30</c:v>
                  </c:pt>
                  <c:pt idx="15">
                    <c:v>15:45</c:v>
                  </c:pt>
                  <c:pt idx="16">
                    <c:v>16:00</c:v>
                  </c:pt>
                  <c:pt idx="17">
                    <c:v>16:15</c:v>
                  </c:pt>
                  <c:pt idx="18">
                    <c:v>16:30</c:v>
                  </c:pt>
                  <c:pt idx="19">
                    <c:v>16:45</c:v>
                  </c:pt>
                  <c:pt idx="20">
                    <c:v>17:00</c:v>
                  </c:pt>
                  <c:pt idx="21">
                    <c:v>17:15</c:v>
                  </c:pt>
                  <c:pt idx="22">
                    <c:v>17:30</c:v>
                  </c:pt>
                  <c:pt idx="23">
                    <c:v>17:45</c:v>
                  </c:pt>
                  <c:pt idx="24">
                    <c:v>18:00</c:v>
                  </c:pt>
                  <c:pt idx="25">
                    <c:v>18:15</c:v>
                  </c:pt>
                  <c:pt idx="26">
                    <c:v>18:30</c:v>
                  </c:pt>
                  <c:pt idx="27">
                    <c:v>18:45</c:v>
                  </c:pt>
                  <c:pt idx="28">
                    <c:v>19:00</c:v>
                  </c:pt>
                  <c:pt idx="29">
                    <c:v>19:15</c:v>
                  </c:pt>
                  <c:pt idx="30">
                    <c:v>19:30</c:v>
                  </c:pt>
                  <c:pt idx="31">
                    <c:v>19:45</c:v>
                  </c:pt>
                </c:lvl>
              </c:multiLvlStrCache>
            </c:multiLvl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65</c:v>
                </c:pt>
                <c:pt idx="1">
                  <c:v>55</c:v>
                </c:pt>
                <c:pt idx="2">
                  <c:v>45</c:v>
                </c:pt>
                <c:pt idx="3">
                  <c:v>35</c:v>
                </c:pt>
                <c:pt idx="4">
                  <c:v>50</c:v>
                </c:pt>
                <c:pt idx="5">
                  <c:v>45</c:v>
                </c:pt>
                <c:pt idx="6">
                  <c:v>40</c:v>
                </c:pt>
                <c:pt idx="7">
                  <c:v>30</c:v>
                </c:pt>
                <c:pt idx="8">
                  <c:v>45</c:v>
                </c:pt>
                <c:pt idx="9">
                  <c:v>40</c:v>
                </c:pt>
                <c:pt idx="10">
                  <c:v>32</c:v>
                </c:pt>
                <c:pt idx="11">
                  <c:v>25</c:v>
                </c:pt>
                <c:pt idx="12">
                  <c:v>50</c:v>
                </c:pt>
                <c:pt idx="13">
                  <c:v>45</c:v>
                </c:pt>
                <c:pt idx="14">
                  <c:v>40</c:v>
                </c:pt>
                <c:pt idx="15">
                  <c:v>35</c:v>
                </c:pt>
                <c:pt idx="16">
                  <c:v>55</c:v>
                </c:pt>
                <c:pt idx="17">
                  <c:v>65</c:v>
                </c:pt>
                <c:pt idx="18">
                  <c:v>70</c:v>
                </c:pt>
                <c:pt idx="19">
                  <c:v>80</c:v>
                </c:pt>
                <c:pt idx="20">
                  <c:v>78</c:v>
                </c:pt>
                <c:pt idx="21">
                  <c:v>85</c:v>
                </c:pt>
                <c:pt idx="22">
                  <c:v>95</c:v>
                </c:pt>
                <c:pt idx="23">
                  <c:v>110</c:v>
                </c:pt>
                <c:pt idx="24">
                  <c:v>105</c:v>
                </c:pt>
                <c:pt idx="25">
                  <c:v>115</c:v>
                </c:pt>
                <c:pt idx="26">
                  <c:v>125</c:v>
                </c:pt>
                <c:pt idx="27">
                  <c:v>135</c:v>
                </c:pt>
                <c:pt idx="28">
                  <c:v>138</c:v>
                </c:pt>
                <c:pt idx="29">
                  <c:v>142</c:v>
                </c:pt>
                <c:pt idx="30">
                  <c:v>148</c:v>
                </c:pt>
                <c:pt idx="31">
                  <c:v>155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时间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2700000"/>
          <a:lstStyle/>
          <a:p>
            <a:pPr>
              <a:defRPr sz="7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2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项目1 实际</c:v>
                </c:pt>
              </c:strCache>
            </c:strRef>
          </c:tx>
          <c:spPr>
            <a:solidFill>
              <a:srgbClr val="D4A04A"/>
            </a:solidFill>
            <a:ln w="3175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25-5</c:v>
                  </c:pt>
                  <c:pt idx="1">
                    <c:v>25-6</c:v>
                  </c:pt>
                  <c:pt idx="2">
                    <c:v>25-7</c:v>
                  </c:pt>
                  <c:pt idx="3">
                    <c:v>25-8</c:v>
                  </c:pt>
                  <c:pt idx="4">
                    <c:v>25-9</c:v>
                  </c:pt>
                  <c:pt idx="5">
                    <c:v>25-10</c:v>
                  </c:pt>
                  <c:pt idx="6">
                    <c:v>25-11</c:v>
                  </c:pt>
                  <c:pt idx="7">
                    <c:v>25-12</c:v>
                  </c:pt>
                  <c:pt idx="8">
                    <c:v>26-1</c:v>
                  </c:pt>
                  <c:pt idx="9">
                    <c:v>26-2</c:v>
                  </c:pt>
                  <c:pt idx="10">
                    <c:v>26-3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67.6</c:v>
                </c:pt>
                <c:pt idx="1">
                  <c:v>97.9</c:v>
                </c:pt>
                <c:pt idx="2">
                  <c:v>104.8</c:v>
                </c:pt>
                <c:pt idx="3">
                  <c:v>97.4</c:v>
                </c:pt>
                <c:pt idx="4">
                  <c:v>94.9</c:v>
                </c:pt>
                <c:pt idx="5">
                  <c:v>101.9</c:v>
                </c:pt>
                <c:pt idx="6">
                  <c:v>108.6</c:v>
                </c:pt>
                <c:pt idx="7">
                  <c:v>111</c:v>
                </c:pt>
                <c:pt idx="8">
                  <c:v>140.7</c:v>
                </c:pt>
                <c:pt idx="9">
                  <c:v>105.1</c:v>
                </c:pt>
                <c:pt idx="10">
                  <c:v>128.1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中北 (CNOR)</c:v>
                </c:pt>
              </c:strCache>
            </c:strRef>
          </c:tx>
          <c:spPr>
            <a:solidFill>
              <a:srgbClr val="D4A04A"/>
            </a:solidFill>
            <a:ln w="3175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25-5</c:v>
                  </c:pt>
                  <c:pt idx="1">
                    <c:v>25-6</c:v>
                  </c:pt>
                  <c:pt idx="2">
                    <c:v>25-7</c:v>
                  </c:pt>
                  <c:pt idx="3">
                    <c:v>25-8</c:v>
                  </c:pt>
                  <c:pt idx="4">
                    <c:v>25-9</c:v>
                  </c:pt>
                  <c:pt idx="5">
                    <c:v>25-10</c:v>
                  </c:pt>
                  <c:pt idx="6">
                    <c:v>25-11</c:v>
                  </c:pt>
                  <c:pt idx="7">
                    <c:v>25-12</c:v>
                  </c:pt>
                  <c:pt idx="8">
                    <c:v>26-1</c:v>
                  </c:pt>
                  <c:pt idx="9">
                    <c:v>26-2</c:v>
                  </c:pt>
                  <c:pt idx="10">
                    <c:v>26-3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94.4</c:v>
                </c:pt>
                <c:pt idx="1">
                  <c:v>111.67</c:v>
                </c:pt>
                <c:pt idx="2">
                  <c:v>114.45</c:v>
                </c:pt>
                <c:pt idx="3">
                  <c:v>110.73</c:v>
                </c:pt>
                <c:pt idx="4">
                  <c:v>110.26</c:v>
                </c:pt>
                <c:pt idx="5">
                  <c:v>112.36</c:v>
                </c:pt>
                <c:pt idx="6">
                  <c:v>118.31</c:v>
                </c:pt>
                <c:pt idx="7">
                  <c:v>115.79</c:v>
                </c:pt>
                <c:pt idx="8">
                  <c:v>133.87</c:v>
                </c:pt>
                <c:pt idx="9">
                  <c:v>115.64</c:v>
                </c:pt>
                <c:pt idx="10">
                  <c:v>143.97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PUN F0 (基准)</c:v>
                </c:pt>
              </c:strCache>
            </c:strRef>
          </c:tx>
          <c:spPr>
            <a:solidFill>
              <a:srgbClr val="0E4D4B"/>
            </a:solidFill>
            <a:ln w="31750" cap="flat">
              <a:solidFill>
                <a:srgbClr val="0E4D4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4D4B"/>
              </a:solidFill>
              <a:ln w="9525" cap="flat">
                <a:solidFill>
                  <a:srgbClr val="0E4D4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25-5</c:v>
                  </c:pt>
                  <c:pt idx="1">
                    <c:v>25-6</c:v>
                  </c:pt>
                  <c:pt idx="2">
                    <c:v>25-7</c:v>
                  </c:pt>
                  <c:pt idx="3">
                    <c:v>25-8</c:v>
                  </c:pt>
                  <c:pt idx="4">
                    <c:v>25-9</c:v>
                  </c:pt>
                  <c:pt idx="5">
                    <c:v>25-10</c:v>
                  </c:pt>
                  <c:pt idx="6">
                    <c:v>25-11</c:v>
                  </c:pt>
                  <c:pt idx="7">
                    <c:v>25-12</c:v>
                  </c:pt>
                  <c:pt idx="8">
                    <c:v>26-1</c:v>
                  </c:pt>
                  <c:pt idx="9">
                    <c:v>26-2</c:v>
                  </c:pt>
                  <c:pt idx="10">
                    <c:v>26-3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93.58</c:v>
                </c:pt>
                <c:pt idx="1">
                  <c:v>111.78</c:v>
                </c:pt>
                <c:pt idx="2">
                  <c:v>113.13</c:v>
                </c:pt>
                <c:pt idx="3">
                  <c:v>108.79</c:v>
                </c:pt>
                <c:pt idx="4">
                  <c:v>109.08</c:v>
                </c:pt>
                <c:pt idx="5">
                  <c:v>111.04</c:v>
                </c:pt>
                <c:pt idx="6">
                  <c:v>117.09</c:v>
                </c:pt>
                <c:pt idx="7">
                  <c:v>115.49</c:v>
                </c:pt>
                <c:pt idx="8">
                  <c:v>132.66</c:v>
                </c:pt>
                <c:pt idx="9">
                  <c:v>114.41</c:v>
                </c:pt>
                <c:pt idx="10">
                  <c:v>143.4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PUN F1 (日间峰)</c:v>
                </c:pt>
              </c:strCache>
            </c:strRef>
          </c:tx>
          <c:spPr>
            <a:solidFill>
              <a:srgbClr val="2A7A78"/>
            </a:solidFill>
            <a:ln w="31750" cap="flat">
              <a:solidFill>
                <a:srgbClr val="2A7A7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7A78"/>
              </a:solidFill>
              <a:ln w="9525" cap="flat">
                <a:solidFill>
                  <a:srgbClr val="2A7A7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25-5</c:v>
                  </c:pt>
                  <c:pt idx="1">
                    <c:v>25-6</c:v>
                  </c:pt>
                  <c:pt idx="2">
                    <c:v>25-7</c:v>
                  </c:pt>
                  <c:pt idx="3">
                    <c:v>25-8</c:v>
                  </c:pt>
                  <c:pt idx="4">
                    <c:v>25-9</c:v>
                  </c:pt>
                  <c:pt idx="5">
                    <c:v>25-10</c:v>
                  </c:pt>
                  <c:pt idx="6">
                    <c:v>25-11</c:v>
                  </c:pt>
                  <c:pt idx="7">
                    <c:v>25-12</c:v>
                  </c:pt>
                  <c:pt idx="8">
                    <c:v>26-1</c:v>
                  </c:pt>
                  <c:pt idx="9">
                    <c:v>26-2</c:v>
                  </c:pt>
                  <c:pt idx="10">
                    <c:v>26-3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89.09</c:v>
                </c:pt>
                <c:pt idx="1">
                  <c:v>113.06</c:v>
                </c:pt>
                <c:pt idx="2">
                  <c:v>108.96</c:v>
                </c:pt>
                <c:pt idx="3">
                  <c:v>105.58</c:v>
                </c:pt>
                <c:pt idx="4">
                  <c:v>109.59</c:v>
                </c:pt>
                <c:pt idx="5">
                  <c:v>117.83</c:v>
                </c:pt>
                <c:pt idx="6">
                  <c:v>129.59</c:v>
                </c:pt>
                <c:pt idx="7">
                  <c:v>130.09</c:v>
                </c:pt>
                <c:pt idx="8">
                  <c:v>151.26</c:v>
                </c:pt>
                <c:pt idx="9">
                  <c:v>122.28</c:v>
                </c:pt>
                <c:pt idx="10">
                  <c:v>143.02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PUN F2 (晚峰)</c:v>
                </c:pt>
              </c:strCache>
            </c:strRef>
          </c:tx>
          <c:spPr>
            <a:solidFill>
              <a:srgbClr val="C75450"/>
            </a:solidFill>
            <a:ln w="31750" cap="flat">
              <a:solidFill>
                <a:srgbClr val="C7545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75450"/>
              </a:solidFill>
              <a:ln w="9525" cap="flat">
                <a:solidFill>
                  <a:srgbClr val="C7545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25-5</c:v>
                  </c:pt>
                  <c:pt idx="1">
                    <c:v>25-6</c:v>
                  </c:pt>
                  <c:pt idx="2">
                    <c:v>25-7</c:v>
                  </c:pt>
                  <c:pt idx="3">
                    <c:v>25-8</c:v>
                  </c:pt>
                  <c:pt idx="4">
                    <c:v>25-9</c:v>
                  </c:pt>
                  <c:pt idx="5">
                    <c:v>25-10</c:v>
                  </c:pt>
                  <c:pt idx="6">
                    <c:v>25-11</c:v>
                  </c:pt>
                  <c:pt idx="7">
                    <c:v>25-12</c:v>
                  </c:pt>
                  <c:pt idx="8">
                    <c:v>26-1</c:v>
                  </c:pt>
                  <c:pt idx="9">
                    <c:v>26-2</c:v>
                  </c:pt>
                  <c:pt idx="10">
                    <c:v>26-3</c:v>
                  </c:pt>
                </c:lvl>
              </c:multiLvlStrCache>
            </c:multiLvlStrRef>
          </c:cat>
          <c:val>
            <c:numRef>
              <c:f>Sheet1!$F$2:$F$12</c:f>
              <c:numCache>
                <c:formatCode>General</c:formatCode>
                <c:ptCount val="11"/>
                <c:pt idx="0">
                  <c:v>110.64</c:v>
                </c:pt>
                <c:pt idx="1">
                  <c:v>126.76</c:v>
                </c:pt>
                <c:pt idx="2">
                  <c:v>127.1</c:v>
                </c:pt>
                <c:pt idx="3">
                  <c:v>117.97</c:v>
                </c:pt>
                <c:pt idx="4">
                  <c:v>120.93</c:v>
                </c:pt>
                <c:pt idx="5">
                  <c:v>121.66</c:v>
                </c:pt>
                <c:pt idx="6">
                  <c:v>124.02</c:v>
                </c:pt>
                <c:pt idx="7">
                  <c:v>119.98</c:v>
                </c:pt>
                <c:pt idx="8">
                  <c:v>137.41</c:v>
                </c:pt>
                <c:pt idx="9">
                  <c:v>119.84</c:v>
                </c:pt>
                <c:pt idx="10">
                  <c:v>153.91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5"/>
          <c:min val="5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Capture Rate %</c:v>
                </c:pt>
              </c:strCache>
            </c:strRef>
          </c:tx>
          <c:spPr>
            <a:solidFill>
              <a:srgbClr val="D4A0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4D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25-5</c:v>
                  </c:pt>
                  <c:pt idx="1">
                    <c:v>25-6</c:v>
                  </c:pt>
                  <c:pt idx="2">
                    <c:v>25-7</c:v>
                  </c:pt>
                  <c:pt idx="3">
                    <c:v>25-8</c:v>
                  </c:pt>
                  <c:pt idx="4">
                    <c:v>25-9</c:v>
                  </c:pt>
                  <c:pt idx="5">
                    <c:v>25-10</c:v>
                  </c:pt>
                  <c:pt idx="6">
                    <c:v>25-11</c:v>
                  </c:pt>
                  <c:pt idx="7">
                    <c:v>25-12</c:v>
                  </c:pt>
                  <c:pt idx="8">
                    <c:v>26-1</c:v>
                  </c:pt>
                  <c:pt idx="9">
                    <c:v>26-2</c:v>
                  </c:pt>
                  <c:pt idx="10">
                    <c:v>26-3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71.6</c:v>
                </c:pt>
                <c:pt idx="1">
                  <c:v>87.7</c:v>
                </c:pt>
                <c:pt idx="2">
                  <c:v>91.6</c:v>
                </c:pt>
                <c:pt idx="3">
                  <c:v>88</c:v>
                </c:pt>
                <c:pt idx="4">
                  <c:v>86.1</c:v>
                </c:pt>
                <c:pt idx="5">
                  <c:v>90.7</c:v>
                </c:pt>
                <c:pt idx="6">
                  <c:v>91.8</c:v>
                </c:pt>
                <c:pt idx="7">
                  <c:v>95.9</c:v>
                </c:pt>
                <c:pt idx="8">
                  <c:v>105.1</c:v>
                </c:pt>
                <c:pt idx="9">
                  <c:v>90.9</c:v>
                </c:pt>
                <c:pt idx="10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E4D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5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Capture Rate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项目1 售电价</c:v>
                </c:pt>
              </c:strCache>
            </c:strRef>
          </c:tx>
          <c:spPr>
            <a:solidFill>
              <a:srgbClr val="D4A04A"/>
            </a:solidFill>
            <a:ln w="3175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25-5</c:v>
                  </c:pt>
                  <c:pt idx="1">
                    <c:v>25-6</c:v>
                  </c:pt>
                  <c:pt idx="2">
                    <c:v>25-7</c:v>
                  </c:pt>
                  <c:pt idx="3">
                    <c:v>25-8</c:v>
                  </c:pt>
                  <c:pt idx="4">
                    <c:v>25-9</c:v>
                  </c:pt>
                  <c:pt idx="5">
                    <c:v>25-10</c:v>
                  </c:pt>
                  <c:pt idx="6">
                    <c:v>25-11</c:v>
                  </c:pt>
                  <c:pt idx="7">
                    <c:v>25-12</c:v>
                  </c:pt>
                  <c:pt idx="8">
                    <c:v>26-1</c:v>
                  </c:pt>
                  <c:pt idx="9">
                    <c:v>26-2</c:v>
                  </c:pt>
                  <c:pt idx="10">
                    <c:v>26-3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67.6</c:v>
                </c:pt>
                <c:pt idx="1">
                  <c:v>97.9</c:v>
                </c:pt>
                <c:pt idx="2">
                  <c:v>104.8</c:v>
                </c:pt>
                <c:pt idx="3">
                  <c:v>97.4</c:v>
                </c:pt>
                <c:pt idx="4">
                  <c:v>94.9</c:v>
                </c:pt>
                <c:pt idx="5">
                  <c:v>101.9</c:v>
                </c:pt>
                <c:pt idx="6">
                  <c:v>108.6</c:v>
                </c:pt>
                <c:pt idx="7">
                  <c:v>111</c:v>
                </c:pt>
                <c:pt idx="8">
                  <c:v>140.7</c:v>
                </c:pt>
                <c:pt idx="9">
                  <c:v>105.1</c:v>
                </c:pt>
                <c:pt idx="10">
                  <c:v>128.1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中北 baseload</c:v>
                </c:pt>
              </c:strCache>
            </c:strRef>
          </c:tx>
          <c:spPr>
            <a:solidFill>
              <a:srgbClr val="D4A04A"/>
            </a:solidFill>
            <a:ln w="31750" cap="flat">
              <a:solidFill>
                <a:srgbClr val="D4A0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D4A04A"/>
              </a:solidFill>
              <a:ln w="9525" cap="flat">
                <a:solidFill>
                  <a:srgbClr val="D4A0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25-5</c:v>
                  </c:pt>
                  <c:pt idx="1">
                    <c:v>25-6</c:v>
                  </c:pt>
                  <c:pt idx="2">
                    <c:v>25-7</c:v>
                  </c:pt>
                  <c:pt idx="3">
                    <c:v>25-8</c:v>
                  </c:pt>
                  <c:pt idx="4">
                    <c:v>25-9</c:v>
                  </c:pt>
                  <c:pt idx="5">
                    <c:v>25-10</c:v>
                  </c:pt>
                  <c:pt idx="6">
                    <c:v>25-11</c:v>
                  </c:pt>
                  <c:pt idx="7">
                    <c:v>25-12</c:v>
                  </c:pt>
                  <c:pt idx="8">
                    <c:v>26-1</c:v>
                  </c:pt>
                  <c:pt idx="9">
                    <c:v>26-2</c:v>
                  </c:pt>
                  <c:pt idx="10">
                    <c:v>26-3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94.4</c:v>
                </c:pt>
                <c:pt idx="1">
                  <c:v>111.67</c:v>
                </c:pt>
                <c:pt idx="2">
                  <c:v>114.45</c:v>
                </c:pt>
                <c:pt idx="3">
                  <c:v>110.73</c:v>
                </c:pt>
                <c:pt idx="4">
                  <c:v>110.26</c:v>
                </c:pt>
                <c:pt idx="5">
                  <c:v>112.36</c:v>
                </c:pt>
                <c:pt idx="6">
                  <c:v>118.31</c:v>
                </c:pt>
                <c:pt idx="7">
                  <c:v>115.79</c:v>
                </c:pt>
                <c:pt idx="8">
                  <c:v>133.87</c:v>
                </c:pt>
                <c:pt idx="9">
                  <c:v>115.64</c:v>
                </c:pt>
                <c:pt idx="10">
                  <c:v>143.97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50"/>
        </c:scaling>
        <c:delete val="0"/>
        <c:axPos val="l"/>
        <c:majorGridlines>
          <c:spPr>
            <a:ln w="6350" cap="flat">
              <a:solidFill>
                <a:srgbClr val="E5E1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Calibri"/>
                  </a:rPr>
                  <a:t>€/MWh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chart" Target="/ppt/charts/chart2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4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5669280" cy="5669280"/>
          </a:xfrm>
          <a:prstGeom prst="ellipse">
            <a:avLst/>
          </a:prstGeom>
          <a:solidFill>
            <a:srgbClr val="D4A04A">
              <a:alpha val="70000"/>
            </a:srgbClr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99855" y="-1463040"/>
            <a:ext cx="4754880" cy="4754880"/>
          </a:xfrm>
          <a:prstGeom prst="ellipse">
            <a:avLst/>
          </a:prstGeom>
          <a:solidFill>
            <a:srgbClr val="0E4D4B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22815" y="-640080"/>
            <a:ext cx="2743200" cy="2743200"/>
          </a:xfrm>
          <a:prstGeom prst="ellipse">
            <a:avLst/>
          </a:prstGeom>
          <a:solidFill>
            <a:srgbClr val="D4A04A">
              <a:alpha val="30000"/>
            </a:srgbClr>
          </a:solidFill>
          <a:ln w="6350">
            <a:solidFill>
              <a:srgbClr val="E5BE7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0" kern="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WISEGLOW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ITALY  ·  ASSET MANAGEMENT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1463040" cy="292608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深度分析版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5B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GME 意大利电力市场  ·  价格曲线 / 区域价差 / 峰谷套利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 价格走势与峰谷套利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4008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spc="600" kern="0" dirty="0">
                <a:solidFill>
                  <a:srgbClr val="E5BE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  ·  2024 — 2026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4663440"/>
            <a:ext cx="2679192" cy="1325880"/>
          </a:xfrm>
          <a:prstGeom prst="rect">
            <a:avLst/>
          </a:prstGeom>
          <a:solidFill>
            <a:srgbClr val="0A3D3B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663440"/>
            <a:ext cx="2679192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8280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数据维度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张图表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" y="56235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B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全部基于官方数据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38144" y="4663440"/>
            <a:ext cx="2679192" cy="1325880"/>
          </a:xfrm>
          <a:prstGeom prst="rect">
            <a:avLst/>
          </a:prstGeom>
          <a:solidFill>
            <a:srgbClr val="0A3D3B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38144" y="4663440"/>
            <a:ext cx="2679192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21024" y="48280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时间跨度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21024" y="512064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2024 - 2026 YTD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3621024" y="56235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B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个月覆盖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36208" y="4663440"/>
            <a:ext cx="2679192" cy="1325880"/>
          </a:xfrm>
          <a:prstGeom prst="rect">
            <a:avLst/>
          </a:prstGeom>
          <a:solidFill>
            <a:srgbClr val="0A3D3B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36208" y="4663440"/>
            <a:ext cx="2679192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48280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价格维度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19088" y="512064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F0/F1/F2/F3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19088" y="56235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B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+ 7 区域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34272" y="4663440"/>
            <a:ext cx="2679192" cy="1325880"/>
          </a:xfrm>
          <a:prstGeom prst="rect">
            <a:avLst/>
          </a:prstGeom>
          <a:solidFill>
            <a:srgbClr val="0A3D3B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34272" y="4663440"/>
            <a:ext cx="2679192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4828032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分析视角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17152" y="5120640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峰谷价差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217152" y="5623560"/>
            <a:ext cx="2404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5B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项目1 + 储能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0080" y="63093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5B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保密文件  ·  2026年5月  ·  Internal Distribution Only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34095" y="6309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 S.r.l.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·  方法论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数据来源与分析框架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7157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715768" cy="73152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73352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 dei Mercati Energetici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67919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Index GME  ·  MGP 分时区结算  ·  15min MTU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1508760"/>
            <a:ext cx="27157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10128" y="1508760"/>
            <a:ext cx="2715768" cy="73152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1673352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93008" y="192024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93008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Gestore Servizi Energetici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93008" y="267919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Prezzi medi RID per zona  ·  月度官方更新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63056" y="1508760"/>
            <a:ext cx="2715768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508760"/>
            <a:ext cx="2715768" cy="73152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5936" y="1673352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45936" y="192024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TERNA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45936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System Operator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45936" y="267919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 数据  ·  MACSE 容量拍卖结果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015984" y="1508760"/>
            <a:ext cx="2715768" cy="1691640"/>
          </a:xfrm>
          <a:prstGeom prst="rect">
            <a:avLst/>
          </a:prstGeom>
          <a:solidFill>
            <a:srgbClr val="0E4D4B"/>
          </a:solidFill>
          <a:ln w="19050">
            <a:solidFill>
              <a:srgbClr val="D4A0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15984" y="1508760"/>
            <a:ext cx="2715768" cy="7315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98864" y="1673352"/>
            <a:ext cx="2441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98864" y="1920240"/>
            <a:ext cx="2441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198864" y="2377440"/>
            <a:ext cx="2441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内部运营数据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198864" y="2679192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个月发电量 + 实际售电收入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分析维度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457200" y="3822192"/>
            <a:ext cx="457200" cy="36576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41648"/>
            <a:ext cx="329184" cy="329184"/>
          </a:xfrm>
          <a:prstGeom prst="ellips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时间维度  Temporal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343400" y="402336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月度时序 2024-2026 (36 期) · 季节性分解 · 同比/环比 · 多年趋势线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7200" y="4434840"/>
            <a:ext cx="329184" cy="329184"/>
          </a:xfrm>
          <a:prstGeom prst="ellips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34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" y="44165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时段维度  Time-of-Use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343400" y="4416552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日间峰 (Mon-Fri 8-19) · F2 晚峰 (Mon-Fri 7-8+19-23, Sat) · F3 夜谷 · 日内 24h · 15min MTU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7200" y="4828032"/>
            <a:ext cx="329184" cy="329184"/>
          </a:xfrm>
          <a:prstGeom prst="ellips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828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68680" y="48097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空间维度  Geographic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43400" y="4809744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个 GME 分区: NORD · CNOR · CSUD · SUD · CALA · SICI · SARD · 区间价差与相关性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5221224"/>
            <a:ext cx="329184" cy="329184"/>
          </a:xfrm>
          <a:prstGeom prst="ellips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5221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68680" y="520293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价差维度  Spread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343400" y="5202936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F2-F1 季节性 · F1-F3 总动态范围 · 跨区域价差 · 小时内套利窗口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5614416"/>
            <a:ext cx="329184" cy="329184"/>
          </a:xfrm>
          <a:prstGeom prst="ellips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5614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68680" y="55961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对标维度  Benchmark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343400" y="5596128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项目1 实际售电价 vs PUN F0/F1/F2/F3 vs CNOR baseload · 蚕食率分解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原则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所有图表以官方公开数据为基础;  日内/15min 曲线为基于 F1/F2/F3 加权的代表性重构 (标注  · 代表性);  </a:t>
            </a:r>
            <a:pPr indent="0" marL="0">
              <a:buNone/>
            </a:pPr>
            <a:r>
              <a:rPr lang="en-US" sz="1100" i="1" dirty="0">
                <a:solidFill>
                  <a:srgbClr val="E5B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项目1 数据来自 GSE 月结算单。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 ·  目录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深度分析 · 章节结构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5778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457200" cy="105156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51560" y="1527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 月度走势 · Historical Trends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527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4-8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51560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2024 / 2025 / 2026 月度曲线    ·  三年对比与年度统计    ·  波动率与分布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55778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417320"/>
            <a:ext cx="457200" cy="105156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417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720840" y="1527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F1/F2/F3 时段分析 · Time-of-Use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332720" y="1527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9-13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20840" y="1828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F1 日间峰走势    ·  F2 晚峰走势    ·  F3 夜谷走势    ·  F2-F1 季节性倒挂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560320"/>
            <a:ext cx="55778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60320"/>
            <a:ext cx="457200" cy="105156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60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1051560" y="2670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区域曲线 · Geographic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14-17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5156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7区域结构 + 年度均值    ·  2024 / 2025 / 2026 月度按区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2560320"/>
            <a:ext cx="55778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560320"/>
            <a:ext cx="457200" cy="105156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560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720840" y="2670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区域价差 · Cross-Zone Spread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332720" y="2670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18-20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72084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最大-最小价差演变    ·  NORD-SARD 极值对    ·  SICI 孤岛溢价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55778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03320"/>
            <a:ext cx="457200" cy="105156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703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051560" y="3813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日内曲线 · Intraday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663440" y="3813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21-24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5156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冬季典型日内    ·  夏季鸭子曲线    ·  24h × 12月 热力图    ·  15分钟 MTU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126480" y="3703320"/>
            <a:ext cx="55778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26480" y="3703320"/>
            <a:ext cx="457200" cy="105156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3703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3200" dirty="0"/>
          </a:p>
        </p:txBody>
      </p:sp>
      <p:sp>
        <p:nvSpPr>
          <p:cNvPr id="38" name="Text 36"/>
          <p:cNvSpPr/>
          <p:nvPr/>
        </p:nvSpPr>
        <p:spPr>
          <a:xfrm>
            <a:off x="6720840" y="3813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项目1 深度对标 · Project 1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0332720" y="3813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25-28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720840" y="4114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vs 5 个基准    ·  捕获率月度分解    ·  蚕食量化    ·  BESS 加值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57200" y="4846320"/>
            <a:ext cx="55778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4846320"/>
            <a:ext cx="457200" cy="105156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46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</a:t>
            </a:r>
            <a:endParaRPr lang="en-US" sz="3200" dirty="0"/>
          </a:p>
        </p:txBody>
      </p:sp>
      <p:sp>
        <p:nvSpPr>
          <p:cNvPr id="44" name="Text 42"/>
          <p:cNvSpPr/>
          <p:nvPr/>
        </p:nvSpPr>
        <p:spPr>
          <a:xfrm>
            <a:off x="1051560" y="4956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峰谷套利经济 · BESS Economics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663440" y="4956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29-31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5156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套利框架    ·  按区域经济性    ·  规模/时长矩阵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26480" y="4846320"/>
            <a:ext cx="55778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26480" y="4846320"/>
            <a:ext cx="457200" cy="105156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26480" y="4846320"/>
            <a:ext cx="457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200" dirty="0"/>
          </a:p>
        </p:txBody>
      </p:sp>
      <p:sp>
        <p:nvSpPr>
          <p:cNvPr id="50" name="Text 48"/>
          <p:cNvSpPr/>
          <p:nvPr/>
        </p:nvSpPr>
        <p:spPr>
          <a:xfrm>
            <a:off x="6720840" y="49560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总结 · Conclusions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332720" y="49560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32-33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20840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核心发现    ·  行动路径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阅读建议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章节 E (日内) + F (项目1) + G (BESS) 为最具操作性内容;  章节 A-D 为市场背景。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01  ·  PUN 历史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 月度走势  2024  ·  €/MWh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关键事件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月度注解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72600" y="20574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4108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冬季峰值未达预期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641080" y="27706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72600" y="27706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86.80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41080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年中低点 · 弱需求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641080" y="3483864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72600" y="34838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128.44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41080" y="3758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夏季高温 · 制冷需求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41080" y="41970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11月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72600" y="41970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130.89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641080" y="4471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气价反弹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41080" y="4910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372600" y="4910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135.06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641080" y="5184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全年峰值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全年统计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均值 108.4  ·  最大 135.1 (12月)  ·  最小 86.8 (4月)  ·  极差 48.3  · 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标准差 17.0  ·  变异系数 15.7% — 全年呈 "U" 形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02  ·  PUN 历史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 月度走势  2025  ·  €/MWh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关键事件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月度注解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057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464040" y="2057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150.36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41080" y="2331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天然气危机 · 历史新高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641080" y="2770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464040" y="27706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93.58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41080" y="30449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全年低点 · 光伏峰值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641080" y="3483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464040" y="34838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108.79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41080" y="37581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夏季异常温和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41080" y="41970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11月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464040" y="419709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117.09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641080" y="44714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冬季缓慢回升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641080" y="4910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464040" y="491032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115.49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641080" y="5184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年末收敛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全年统计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均值 115.3  ·  最大 150.4 (2月)  ·  最小 93.6 (5月)  ·  极差 56.8  · 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标准差 18.4  ·  变异系数 16.0% — 年初峰值 → 中后稳定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03  ·  PUN 历史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 月度走势  2026 YTD  ·  €/MWh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YTD 观察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首 4 个月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1945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1月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726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132.66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41080" y="24688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冬季高位 · 气价回升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641080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372600" y="3017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114.41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641080" y="3291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气候温和 · 短暂回落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641080" y="3840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37260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143.40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641080" y="4114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年内高点至今 · +25%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641080" y="4663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9372600" y="4663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119.47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641080" y="4937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光伏季节启动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8641080" y="5120640"/>
            <a:ext cx="2834640" cy="59436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732520" y="51206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YTD 平均  </a:t>
            </a:r>
            <a:pPr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127.49 €/MWh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YTD 统计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月均值 127.5  ·  vs 2025 全年 115.3 (+10.6%)  ·  vs 2024 全年 108.4 (+17.6%)  · 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重新进入上行区间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04  ·  PUN 历史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三年叠加对比  ·  2024 / 2025 / 2026 YTD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年度对比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Year-over-Year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41080" y="2148840"/>
            <a:ext cx="2880360" cy="0"/>
          </a:xfrm>
          <a:prstGeom prst="line">
            <a:avLst/>
          </a:prstGeom>
          <a:noFill/>
          <a:ln w="6350">
            <a:solidFill>
              <a:srgbClr val="2A5D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4108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A8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41080" y="24414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108.4</a:t>
            </a:r>
            <a:pPr indent="0" marL="0">
              <a:buNone/>
            </a:pPr>
            <a:r>
              <a:rPr lang="en-US" sz="10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641080" y="290779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基期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641080" y="3246120"/>
            <a:ext cx="2880360" cy="0"/>
          </a:xfrm>
          <a:prstGeom prst="line">
            <a:avLst/>
          </a:prstGeom>
          <a:noFill/>
          <a:ln w="6350">
            <a:solidFill>
              <a:srgbClr val="2A5D5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41080" y="32918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41080" y="35387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115.3</a:t>
            </a:r>
            <a:pPr indent="0" marL="0">
              <a:buNone/>
            </a:pPr>
            <a:r>
              <a:rPr lang="en-US" sz="10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8641080" y="40050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+6.4%  ·  +6.9 €/MWh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8641080" y="4343400"/>
            <a:ext cx="2880360" cy="0"/>
          </a:xfrm>
          <a:prstGeom prst="line">
            <a:avLst/>
          </a:prstGeom>
          <a:noFill/>
          <a:ln w="6350">
            <a:solidFill>
              <a:srgbClr val="2A5D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4108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YTD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641080" y="463600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127.5</a:t>
            </a:r>
            <a:pPr indent="0" marL="0">
              <a:buNone/>
            </a:pPr>
            <a:r>
              <a:rPr lang="en-US" sz="10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8641080" y="510235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+10.6% vs 2025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趋势识别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"U" 形 (4-8月低)  →  2025 倒 "V" 形 (2月峰)  →  2026 双峰 (1月+3月)  · 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波动模式从季节性转向地缘政治驱动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05  ·  PUN 历史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 统计特征  ·  均值 / 极值 / 波动率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802892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1802892" cy="54864"/>
          </a:xfrm>
          <a:prstGeom prst="rect">
            <a:avLst/>
          </a:prstGeom>
          <a:solidFill>
            <a:srgbClr val="A8B0AC"/>
          </a:solidFill>
          <a:ln w="12700">
            <a:solidFill>
              <a:srgbClr val="A8B0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均值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15285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108.4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351532" y="1508760"/>
            <a:ext cx="1802892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51532" y="1508760"/>
            <a:ext cx="1802892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8692" y="1645920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均值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88692" y="1920240"/>
            <a:ext cx="15285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115.3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245864" y="1508760"/>
            <a:ext cx="1802892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45864" y="1508760"/>
            <a:ext cx="1802892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3024" y="1645920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YTD 均值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3024" y="1920240"/>
            <a:ext cx="15285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127.5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40196" y="1508760"/>
            <a:ext cx="1802892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40196" y="1508760"/>
            <a:ext cx="1802892" cy="54864"/>
          </a:xfrm>
          <a:prstGeom prst="rect">
            <a:avLst/>
          </a:prstGeom>
          <a:solidFill>
            <a:srgbClr val="A8B0AC"/>
          </a:solidFill>
          <a:ln w="12700">
            <a:solidFill>
              <a:srgbClr val="A8B0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7356" y="1645920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标准差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77356" y="1920240"/>
            <a:ext cx="15285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8034528" y="1508760"/>
            <a:ext cx="1802892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34528" y="1508760"/>
            <a:ext cx="1802892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1688" y="1645920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标准差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171688" y="1920240"/>
            <a:ext cx="15285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928860" y="1508760"/>
            <a:ext cx="1802892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28860" y="1508760"/>
            <a:ext cx="1802892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66020" y="1645920"/>
            <a:ext cx="1528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变异系数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66020" y="1920240"/>
            <a:ext cx="15285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16.0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%</a:t>
            </a:r>
            <a:endParaRPr lang="en-US" sz="22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457200" y="2743200"/>
          <a:ext cx="68580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7589520" y="2743200"/>
            <a:ext cx="4114800" cy="310896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589520" y="2743200"/>
            <a:ext cx="411480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818120" y="2907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波动特征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818120" y="31821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Characteristics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818120" y="36118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极差扩大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818120" y="386791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极差 48.3  →  2025 极差 56.8  →  2026 仅 Q1 已 29.0; 全年极差预计超 70 €/MWh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818120" y="43891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变异系数稳定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818120" y="464515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2024 = 15.7%, 2025 = 16.0% — 相对波动稳定,绝对波动放大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7818120" y="516636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下行边界上移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7818120" y="5422392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月度最小值 86.8 (2024) → 93.6 (2025) → 114.4 (2026): 系统性抬升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宏观启示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平均水平 2 年上涨 17.6%, 但波动率维持; 套利空间随价格水平等比例放大 —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经济性 改善而非恶化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01  ·  时段分析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F1/F2/F3 时段定义与 2024 基准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66744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457200" cy="15544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16459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日间峰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201168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Mon-Fri 8:00-19:00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26771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11h/工作日 · 36% 时间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051560" y="260604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均值: </a:t>
            </a:r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113.79 €/MWh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61104" y="1508760"/>
            <a:ext cx="3666744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1104" y="1508760"/>
            <a:ext cx="457200" cy="155448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61104" y="15087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855464" y="16459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晚峰/肩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55464" y="201168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Mon-Fri 7-8 + 19-23 · Sat 7-23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55464" y="226771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20h/工作日 · 35% 时间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55464" y="260604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均值: </a:t>
            </a:r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120.32 €/MWh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65008" y="1508760"/>
            <a:ext cx="3666744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65008" y="1508760"/>
            <a:ext cx="457200" cy="1554480"/>
          </a:xfrm>
          <a:prstGeom prst="rect">
            <a:avLst/>
          </a:prstGeom>
          <a:solidFill>
            <a:srgbClr val="A8B0AC"/>
          </a:solidFill>
          <a:ln w="12700">
            <a:solidFill>
              <a:srgbClr val="A8B0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65008" y="1508760"/>
            <a:ext cx="457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659368" y="164592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夜谷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59368" y="201168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夜间 + 周日 + 节假日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659368" y="2267712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时间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59368" y="2606040"/>
            <a:ext cx="2935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均值: </a:t>
            </a:r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98.35 €/MWh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457200" y="3246120"/>
          <a:ext cx="112471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Shape 24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已显倒挂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F2 全年均值 120.3 &gt; F1 全年均值 113.8 (+6.5);  4-8月 F2 比 F1 高 12-26 €/MWh — </a:t>
            </a:r>
            <a:pPr indent="0" marL="0">
              <a:buNone/>
            </a:pPr>
            <a:r>
              <a:rPr lang="en-US" sz="1100" b="1" dirty="0">
                <a:solidFill>
                  <a:srgbClr val="E5B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光伏蚕食 F1 在 2024 已经发生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02  ·  F1 走势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日间峰 三年对比  ·  Mon-Fri 8:00-19:00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特征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日间峰  ·  光伏冲击区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1945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年度均值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113.8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128.1</a:t>
            </a:r>
            <a:pPr indent="0" marL="0">
              <a:buNone/>
            </a:pPr>
            <a:r>
              <a:rPr lang="en-US" sz="90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+12.6%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2026:  </a:t>
            </a:r>
            <a:pPr indent="0" marL="0">
              <a:buNone/>
            </a:pPr>
            <a:r>
              <a:rPr lang="en-US" sz="16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131.9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YTD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41080" y="4297680"/>
            <a:ext cx="2880360" cy="0"/>
          </a:xfrm>
          <a:prstGeom prst="line">
            <a:avLst/>
          </a:prstGeom>
          <a:noFill/>
          <a:ln w="9525">
            <a:solidFill>
              <a:srgbClr val="2A5D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44348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关键事件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2025年5月 F1 = 89.1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历史最低 · 光伏过剩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2025年2月 F1 = 157.6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历史最高 · 气价峰值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4月起 F1 趋势性下移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"鸭子坑"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光伏装机持续增长 → F1 在春末/夏初系统性走低;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5月已成为 F1 全年低点 — 光伏自我蚕食的高峰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03  ·  F2 走势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 晚峰 三年对比  ·  Mon-Fri 7-8 + 19-23  ·  Sat 7-23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特征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新晚峰  ·  最值钱时段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1945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年度均值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120.3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127.5</a:t>
            </a:r>
            <a:pPr indent="0" marL="0">
              <a:buNone/>
            </a:pPr>
            <a:r>
              <a:rPr lang="en-US" sz="90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+6.0%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2026:  </a:t>
            </a:r>
            <a:pPr indent="0" marL="0">
              <a:buNone/>
            </a:pPr>
            <a:r>
              <a:rPr lang="en-US" sz="16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137.4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YTD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41080" y="4297680"/>
            <a:ext cx="2880360" cy="0"/>
          </a:xfrm>
          <a:prstGeom prst="line">
            <a:avLst/>
          </a:prstGeom>
          <a:noFill/>
          <a:ln w="9525">
            <a:solidFill>
              <a:srgbClr val="2A5D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44348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趋势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= 光伏 不能 覆盖的时段: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早晨 7-8 (光伏未起)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晚 19-23 (光伏已落)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价值正在结构性上升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"新晚峰"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F2 是 "肩负" (shoulder), 现已成为日内最高价时段;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价值上行是储能套利的核心驱动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04  ·  F3 走势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F3 夜谷 三年对比  ·  夜间 + 周日 + 节假日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特征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夜谷  ·  充电窗口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1945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年度均值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98.4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107.7</a:t>
            </a:r>
            <a:pPr indent="0" marL="0">
              <a:buNone/>
            </a:pPr>
            <a:r>
              <a:rPr lang="en-US" sz="90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+9.5%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2026:  </a:t>
            </a:r>
            <a:pPr indent="0" marL="0">
              <a:buNone/>
            </a:pPr>
            <a:r>
              <a:rPr lang="en-US" sz="16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119.6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YTD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41080" y="4297680"/>
            <a:ext cx="2880360" cy="0"/>
          </a:xfrm>
          <a:prstGeom prst="line">
            <a:avLst/>
          </a:prstGeom>
          <a:noFill/>
          <a:ln w="9525">
            <a:solidFill>
              <a:srgbClr val="2A5D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44348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套利角色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= 储能 充电 时段: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夜间风电过剩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需求最低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F1-F3 价差 = 总动态范围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F1-F3 = 20.5 €/MWh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上行同步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与 F1 整体同步上升, 价差 F1-F3 维持 15-25 €/MWh 区间; 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夜间套利窗口持续存在, 但价差未扩大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05  ·  关键价差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F2-F1 季节性倒挂  ·  储能套利的核心信号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季节性结构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Seasonal Pattern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1488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冬季 (11月-2月)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41080" y="240487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 &gt; F2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41080" y="27889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采暖需求 + 工业 → F1 反弹高于 F2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641080" y="33832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春末/夏季 (4-8月)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41080" y="36393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 &gt;&gt; F1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641080" y="4023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光伏蚕食 F1, 晚间需求高 → 套利窗口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641080" y="4617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过渡 (3月,9-10月)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41080" y="487375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 ≈ F1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641080" y="52578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光伏供应平衡, 价差 ±5 €/MWh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启示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套利收益高度季节化 — 4-9 月每日可套利 15-25 €/MWh, 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11-2 月窗口关闭甚至反向; 年度 ~180 个有效套利日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01  ·  7区域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意大利市场 7 个分区  ·  结构与年度均值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3774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意大利分区示意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1463040" cy="45720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 NORD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1463040" cy="45720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14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中北 CNOR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1463040" cy="457200"/>
          </a:xfrm>
          <a:prstGeom prst="rect">
            <a:avLst/>
          </a:prstGeom>
          <a:solidFill>
            <a:srgbClr val="2A7A78"/>
          </a:solidFill>
          <a:ln w="12700">
            <a:solidFill>
              <a:srgbClr val="2A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17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中南 CSUD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1463040" cy="457200"/>
          </a:xfrm>
          <a:prstGeom prst="rect">
            <a:avLst/>
          </a:prstGeom>
          <a:solidFill>
            <a:srgbClr val="5A8F6B"/>
          </a:solidFill>
          <a:ln w="12700">
            <a:solidFill>
              <a:srgbClr val="5A8F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南 SUD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4023360"/>
            <a:ext cx="146304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023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卡拉布里亚 CALA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526280"/>
            <a:ext cx="1463040" cy="457200"/>
          </a:xfrm>
          <a:prstGeom prst="rect">
            <a:avLst/>
          </a:prstGeom>
          <a:solidFill>
            <a:srgbClr val="C75450"/>
          </a:solidFill>
          <a:ln w="12700">
            <a:solidFill>
              <a:srgbClr val="C754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5262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西西里 SICI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4754880"/>
            <a:ext cx="502920" cy="457200"/>
          </a:xfrm>
          <a:prstGeom prst="rect">
            <a:avLst/>
          </a:prstGeom>
          <a:solidFill>
            <a:srgbClr val="A8B0AC"/>
          </a:solidFill>
          <a:ln w="6350">
            <a:solidFill>
              <a:srgbClr val="0E4D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7548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撒丁岛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94360" y="49834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SARD</a:t>
            </a:r>
            <a:endParaRPr lang="en-US" sz="7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3017520" y="1508760"/>
          <a:ext cx="8686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区域结构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意大利北部 (NORD/CNOR/CSUD) 结构性最贵, 受工业需求驱动; 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撒丁岛 (SARD) 受互联限制 + 高 RE 渗透 → 结构性最便宜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02  ·  7区域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区域月度走势  2024  ·  €/MWh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月度特征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Patterns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  SARD 极低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41080" y="22585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76.87 vs NORD 87.28 → 价差 10.4 €/MWh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41080" y="2724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  SICI 飙升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41080" y="2971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138.34 vs NORD 124.47 → +13.9 溢价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641080" y="34381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  SICI 极高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41080" y="36850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134.66 vs SARD 113.88 → 极差 20.8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641080" y="41513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11月  收敛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41080" y="43982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所有区域 130-132 范围内紧密同步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41080" y="48646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  全年最高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41080" y="511149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CNOR 135.72 — 冬季气价驱动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总结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区域差异在夏末/秋季最显著 (光伏在南方 + 拥堵);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撒丁岛在 4月低至 76.87 — 全年所有区域单月最低点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33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03  ·  7区域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区域月度走势  2025  ·  €/MWh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月度特征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Patterns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0116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气价驱动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41080" y="2258568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1-2月全 7 区一致冲至 140-150;  ±5 范围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641080" y="272491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  全年低点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641080" y="29718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SARD 88.58 ·  NORD 93.79 ·  价差仅 5.2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641080" y="34381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  SICI 异常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41080" y="3685032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116.44 vs 同期 107-110; 孤岛溢价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641080" y="415137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  SUD 突破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41080" y="4398264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 104.02 — 高风电出力 + 拥堵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641080" y="486460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  极致收敛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641080" y="5111496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 7 区在 114-116 范围,  价差 1 €/MWh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总结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区域价差全年大幅压缩 (Year-over-Year -28%); 整体显示出 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市场更整合 + 储能渗透增强 + 互联改善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33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04  ·  7区域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区域月度走势  2026 YTD  ·  €/MWh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YTD 观察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 First Look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41080" y="2057400"/>
            <a:ext cx="182880" cy="292608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15400" y="20574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北 NORD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0" y="20574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131.2 €/MWh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641080" y="2441448"/>
            <a:ext cx="182880" cy="292608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915400" y="244144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中北 CNOR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058400" y="244144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131.2 €/MWh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41080" y="2825496"/>
            <a:ext cx="182880" cy="292608"/>
          </a:xfrm>
          <a:prstGeom prst="rect">
            <a:avLst/>
          </a:prstGeom>
          <a:solidFill>
            <a:srgbClr val="2A7A78"/>
          </a:solidFill>
          <a:ln w="12700">
            <a:solidFill>
              <a:srgbClr val="2A7A7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15400" y="28254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中南 CSUD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058400" y="28254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129.7 €/MWh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641080" y="3209544"/>
            <a:ext cx="182880" cy="292608"/>
          </a:xfrm>
          <a:prstGeom prst="rect">
            <a:avLst/>
          </a:prstGeom>
          <a:solidFill>
            <a:srgbClr val="5A8F6B"/>
          </a:solidFill>
          <a:ln w="12700">
            <a:solidFill>
              <a:srgbClr val="5A8F6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915400" y="320954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南 SUD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0" y="32095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125.0 €/MWh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8641080" y="3593592"/>
            <a:ext cx="18288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15400" y="359359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卡拉布里亚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0058400" y="3593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124.7 €/MWh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641080" y="3977640"/>
            <a:ext cx="182880" cy="292608"/>
          </a:xfrm>
          <a:prstGeom prst="rect">
            <a:avLst/>
          </a:prstGeom>
          <a:solidFill>
            <a:srgbClr val="C75450"/>
          </a:solidFill>
          <a:ln w="12700">
            <a:solidFill>
              <a:srgbClr val="C7545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915400" y="397764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西西里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0058400" y="3977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127.2 €/MWh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8641080" y="4361688"/>
            <a:ext cx="182880" cy="292608"/>
          </a:xfrm>
          <a:prstGeom prst="rect">
            <a:avLst/>
          </a:prstGeom>
          <a:solidFill>
            <a:srgbClr val="A8B0AC"/>
          </a:solidFill>
          <a:ln w="12700">
            <a:solidFill>
              <a:srgbClr val="A8B0A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15400" y="43616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撒丁岛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58400" y="43616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125.3 €/MWh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641080" y="4791456"/>
            <a:ext cx="2880360" cy="0"/>
          </a:xfrm>
          <a:prstGeom prst="line">
            <a:avLst/>
          </a:prstGeom>
          <a:noFill/>
          <a:ln w="9525">
            <a:solidFill>
              <a:srgbClr val="D4A04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41080" y="488289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均值差: 6.5 €/MWh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8641080" y="513892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NORD/CNOR 最高  ·  CALA 最低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Q1 特点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1月与3月双峰显著, 北部 (NORD/CNOR) 持续领跑; 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 SICI 反常飙至 146.4 — 维护期电厂停机叠加孤岛效应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33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01  ·  区域价差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月度最大-最小价差演变  ·  Cross-Zone Volatility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价差演变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 Evolution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14884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年度均价差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2024:  </a:t>
            </a:r>
            <a:pPr indent="0" marL="0">
              <a:buNone/>
            </a:pPr>
            <a:r>
              <a:rPr lang="en-US" sz="1800" b="1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8.3</a:t>
            </a:r>
            <a:pPr indent="0" marL="0">
              <a:buNone/>
            </a:pPr>
            <a:r>
              <a:rPr lang="en-US" sz="900" dirty="0">
                <a:solidFill>
                  <a:srgbClr val="8A96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2025:  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6.0</a:t>
            </a:r>
            <a:pPr indent="0" marL="0">
              <a:buNone/>
            </a:pPr>
            <a:r>
              <a:rPr lang="en-US" sz="90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-28%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Q1:  </a:t>
            </a:r>
            <a:pPr indent="0" marL="0">
              <a:buNone/>
            </a:pPr>
            <a:r>
              <a:rPr lang="en-US" sz="18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</a:t>
            </a:r>
            <a:pPr indent="0" marL="0">
              <a:buNone/>
            </a:pPr>
            <a:r>
              <a:rPr lang="en-US" sz="90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反弹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641080" y="4526280"/>
            <a:ext cx="2880360" cy="0"/>
          </a:xfrm>
          <a:prstGeom prst="line">
            <a:avLst/>
          </a:prstGeom>
          <a:noFill/>
          <a:ln w="9525">
            <a:solidFill>
              <a:srgbClr val="2A5D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466344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极值月份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2024年10月: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€/MWh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2026年3月: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€/MWh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价差非线性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价差全年压缩, 但 2026 Q1 反弹至 9.8 €/MWh; 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互联改善 ≠ 价差消失, 极端月份依然存在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33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02  ·  极值对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NORD vs SARD  ·  最贵 vs 最便宜区域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768096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57200" y="3931920"/>
          <a:ext cx="768096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412480" y="1463040"/>
            <a:ext cx="3291840" cy="43891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412480" y="146304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641080" y="1627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 - SARD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641080" y="1901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结构性价差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641080" y="21031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 SARD 便宜?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孤岛 — 仅 2 条 HVDC 连接大陆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高风电+光伏渗透 (&gt;50%)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工业需求弱化 (Alcoa 关停)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频繁出现拥堵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641080" y="4023360"/>
            <a:ext cx="2880360" cy="0"/>
          </a:xfrm>
          <a:prstGeom prst="line">
            <a:avLst/>
          </a:prstGeom>
          <a:noFill/>
          <a:ln w="9525">
            <a:solidFill>
              <a:srgbClr val="2A5D5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641080" y="4160520"/>
            <a:ext cx="2880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数据要点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NORD-SARD 均值: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1.15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€/MWh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NORD-SARD 均值: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3.69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€/MWh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2025年4月最大: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€/MWh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投资启示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撒丁岛新建光伏面临 -2.95 €/MWh 折价 (vs PUN) + 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高于平均的蚕食率, 储能为强制配套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· 03  ·  孤岛溢价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西西里 SICI  ·  最大波动区域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孤岛特征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Sicily as Island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14884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动态特点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夏末/秋季 SICI 溢价高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冬季 SICI ≈ NORD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互联限制 → 局部供需失衡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维护期电厂停机 → 价格飙升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41080" y="4251960"/>
            <a:ext cx="2880360" cy="0"/>
          </a:xfrm>
          <a:prstGeom prst="line">
            <a:avLst/>
          </a:prstGeom>
          <a:noFill/>
          <a:ln w="9525">
            <a:solidFill>
              <a:srgbClr val="2A5D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41080" y="43891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极值月份</a:t>
            </a:r>
            <a:endParaRPr lang="en-US" sz="11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24年10月: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+20.3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历史最高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26年3月: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+2.4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停机日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25年5月: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</a:t>
            </a:r>
            <a:pPr indent="0" marL="0">
              <a:buNone/>
            </a:pPr>
            <a:r>
              <a:rPr lang="en-US" sz="900" i="1" dirty="0">
                <a:solidFill>
                  <a:srgbClr val="A8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反向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启示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西西里波动率最高 → 同样 BESS 容量在 SICI 套利收益约为 NORD 的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1.3-1.5 倍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01  ·  日内曲线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典型冬季日内曲线  ·  代表性 2025年1月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8680" y="1783080"/>
            <a:ext cx="548640" cy="292608"/>
          </a:xfrm>
          <a:prstGeom prst="rect">
            <a:avLst/>
          </a:prstGeom>
          <a:solidFill>
            <a:srgbClr val="A8B0AC">
              <a:alpha val="70000"/>
            </a:srgbClr>
          </a:solidFill>
          <a:ln w="12700">
            <a:solidFill>
              <a:srgbClr val="A8B0A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8680" y="1783080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783080"/>
            <a:ext cx="2377440" cy="292608"/>
          </a:xfrm>
          <a:prstGeom prst="rect">
            <a:avLst/>
          </a:prstGeom>
          <a:solidFill>
            <a:srgbClr val="0E4D4B">
              <a:alpha val="20000"/>
            </a:srgbClr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17830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 日间峰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7920" y="1783080"/>
            <a:ext cx="1188720" cy="292608"/>
          </a:xfrm>
          <a:prstGeom prst="rect">
            <a:avLst/>
          </a:prstGeom>
          <a:solidFill>
            <a:srgbClr val="D4A04A">
              <a:alpha val="70000"/>
            </a:srgbClr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178308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 晚峰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冬季模式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Winter Pattern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41080" y="2194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夜间 (0-7)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287000" y="2194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118-130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41080" y="2606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早晨 (7-9)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287000" y="26060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148-162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4108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日间 (9-17)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287000" y="3017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148-165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41080" y="34290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晚峰 (18-21)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287000" y="34290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175-178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4108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深夜 (22-23)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287000" y="38404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135-150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641080" y="4434840"/>
            <a:ext cx="2880360" cy="0"/>
          </a:xfrm>
          <a:prstGeom prst="line">
            <a:avLst/>
          </a:prstGeom>
          <a:noFill/>
          <a:ln w="9525">
            <a:solidFill>
              <a:srgbClr val="2A5D5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41080" y="45720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冬季套利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≈ F2 ≈ 高位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套利窗口 = F3 → 晚峰</a:t>
            </a:r>
            <a:endParaRPr lang="en-US" sz="1000" dirty="0"/>
          </a:p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F3-晚峰 价差: ~55 €/MWh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冬季特点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日间需求持续高位, 无光伏低谷;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套利 = 夜间 (F3) 充电 + 晚峰 (18-21h) 放电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33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02  ·  日内曲线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夏季鸭子曲线  ·  代表性 2025年5月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3566160" y="4617720"/>
            <a:ext cx="1645920" cy="594360"/>
          </a:xfrm>
          <a:prstGeom prst="rect">
            <a:avLst/>
          </a:prstGeom>
          <a:solidFill>
            <a:srgbClr val="5A8F6B">
              <a:alpha val="80000"/>
            </a:srgbClr>
          </a:solidFill>
          <a:ln w="9525">
            <a:solidFill>
              <a:srgbClr val="5A8F6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6616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充电  CHARGE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48828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11-15h  光伏谷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1554480" cy="594360"/>
          </a:xfrm>
          <a:prstGeom prst="rect">
            <a:avLst/>
          </a:prstGeom>
          <a:solidFill>
            <a:srgbClr val="C75450">
              <a:alpha val="85000"/>
            </a:srgbClr>
          </a:solidFill>
          <a:ln w="9525">
            <a:solidFill>
              <a:srgbClr val="C754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83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放电  DISCHARGE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20482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19-21h  晚峰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鸭子曲线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Duck Curve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41080" y="2194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夜间 (0-7)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0469880" y="21945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78-95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64108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晨高峰 (7-9)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469880" y="2606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88-95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641080" y="3017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光伏谷 (11-15)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469880" y="30175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A8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35-50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6410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回升 (16-18)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0469880" y="3429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65-100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6410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晚峰 (19-21)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469880" y="384048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130-140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641080" y="4434840"/>
            <a:ext cx="2880360" cy="0"/>
          </a:xfrm>
          <a:prstGeom prst="line">
            <a:avLst/>
          </a:prstGeom>
          <a:noFill/>
          <a:ln w="9525">
            <a:solidFill>
              <a:srgbClr val="2A5D5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641080" y="45720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夏季套利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光伏谷 → 晚峰 价差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5DC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极差: </a:t>
            </a:r>
            <a:pPr indent="0" marL="0">
              <a:buNone/>
            </a:pPr>
            <a:r>
              <a:rPr lang="en-US" sz="14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~100 €/MWh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黄金套利窗口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夏季特点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光伏中午供给峰值 → PUN 中午跌至 35-50;  晚间光伏归零 → 需求继续 → 140 €/MWh; 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日内极差超过 100 €/MWh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33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03  ·  热力图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 24 小时 × 12 月  ·  2025年代表性热力图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5156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19656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587752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355848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23944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89204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660136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428232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196328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964424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73252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500616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187452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216712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2月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245973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3月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75234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4月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304495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333756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6月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63016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922776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2153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507992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10月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480060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5093208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88720" y="187452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72768" y="187452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56816" y="187452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40864" y="187452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24912" y="187452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187452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93008" y="187452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77056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61104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45152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13248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97296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81344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65392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49440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33488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17536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101584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85632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69680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253728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37776" y="187452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21824" y="187452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88720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572768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956816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340864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724912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108960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93008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77056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61104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645152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029200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13248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97296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81344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565392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949440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333488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17536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101584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485632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69680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253728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637776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0021824" y="216712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8720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572768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956816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340864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24912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108960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493008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877056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61104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645152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029200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413248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797296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181344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565392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6949440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333488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7717536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101584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485632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869680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253728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37776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0021824" y="245973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88720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572768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956816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340864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724912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108960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493008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877056" y="2752344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261104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645152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029200" y="2752344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5413248" y="2752344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797296" y="2752344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6181344" y="2752344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565392" y="2752344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949440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333488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717536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01584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485632" y="2752344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869680" y="2752344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253728" y="2752344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637776" y="2752344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021824" y="275234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88720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572768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1956816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340864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724912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3108960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3493008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877056" y="304495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261104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645152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29200" y="3044952"/>
            <a:ext cx="365760" cy="274320"/>
          </a:xfrm>
          <a:prstGeom prst="rect">
            <a:avLst/>
          </a:prstGeom>
          <a:solidFill>
            <a:srgbClr val="F5EFDC"/>
          </a:solidFill>
          <a:ln w="12700">
            <a:solidFill>
              <a:srgbClr val="F5EFD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413248" y="3044952"/>
            <a:ext cx="365760" cy="274320"/>
          </a:xfrm>
          <a:prstGeom prst="rect">
            <a:avLst/>
          </a:prstGeom>
          <a:solidFill>
            <a:srgbClr val="F5EFDC"/>
          </a:solidFill>
          <a:ln w="12700">
            <a:solidFill>
              <a:srgbClr val="F5EFD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797296" y="3044952"/>
            <a:ext cx="365760" cy="274320"/>
          </a:xfrm>
          <a:prstGeom prst="rect">
            <a:avLst/>
          </a:prstGeom>
          <a:solidFill>
            <a:srgbClr val="F5EFDC"/>
          </a:solidFill>
          <a:ln w="12700">
            <a:solidFill>
              <a:srgbClr val="F5EFD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181344" y="3044952"/>
            <a:ext cx="365760" cy="274320"/>
          </a:xfrm>
          <a:prstGeom prst="rect">
            <a:avLst/>
          </a:prstGeom>
          <a:solidFill>
            <a:srgbClr val="F5EFDC"/>
          </a:solidFill>
          <a:ln w="12700">
            <a:solidFill>
              <a:srgbClr val="F5EFD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565392" y="3044952"/>
            <a:ext cx="365760" cy="274320"/>
          </a:xfrm>
          <a:prstGeom prst="rect">
            <a:avLst/>
          </a:prstGeom>
          <a:solidFill>
            <a:srgbClr val="F5EFDC"/>
          </a:solidFill>
          <a:ln w="12700">
            <a:solidFill>
              <a:srgbClr val="F5EFD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949440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333488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717536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101584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485632" y="304495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869680" y="304495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253728" y="304495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637776" y="304495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021824" y="304495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188720" y="333756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572768" y="333756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956816" y="333756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2340864" y="333756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2724912" y="333756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108960" y="333756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493008" y="333756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877056" y="333756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261104" y="333756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645152" y="333756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029200" y="3337560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5413248" y="3337560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5797296" y="3337560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181344" y="3337560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6565392" y="3337560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949440" y="333756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333488" y="333756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7717536" y="333756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8101584" y="333756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8485632" y="333756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8869680" y="333756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9253728" y="3337560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9637776" y="333756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021824" y="333756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188720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1572768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956816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2340864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2724912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108960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493008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877056" y="363016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4261104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4645152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029200" y="3630168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413248" y="3630168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797296" y="3630168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6181344" y="3630168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6565392" y="3630168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6949440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7333488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7717536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8101584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8485632" y="363016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8869680" y="363016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9253728" y="3630168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9637776" y="363016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10021824" y="363016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1188720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1572768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956816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340864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2724912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108960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3493008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3877056" y="392277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261104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4645152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029200" y="3922776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413248" y="3922776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5797296" y="3922776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6181344" y="3922776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6565392" y="3922776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949440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7333488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7717536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101584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8485632" y="3922776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869680" y="3922776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253728" y="3922776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9637776" y="3922776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10021824" y="3922776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1188720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572768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956816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2340864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2724912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3108960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3493008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3877056" y="4215384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4261104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4645152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5029200" y="4215384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5413248" y="4215384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5797296" y="4215384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6181344" y="4215384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6565392" y="4215384"/>
            <a:ext cx="365760" cy="27432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6949440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7333488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7717536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>
            <a:off x="8101584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>
            <a:off x="8485632" y="4215384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8869680" y="4215384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9253728" y="4215384"/>
            <a:ext cx="365760" cy="27432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9637776" y="4215384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0021824" y="4215384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>
            <a:off x="1188720" y="450799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572768" y="450799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956816" y="450799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2340864" y="450799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2724912" y="450799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>
            <a:off x="3108960" y="450799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3493008" y="450799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3877056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>
            <a:off x="4261104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645152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5029200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>
            <a:off x="5413248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>
            <a:off x="5797296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>
            <a:off x="6181344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>
            <a:off x="6565392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>
            <a:off x="6949440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>
            <a:off x="7333488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>
            <a:off x="7717536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>
            <a:off x="8101584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>
            <a:off x="8485632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>
            <a:off x="8869680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>
            <a:off x="9253728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>
            <a:off x="9637776" y="4507992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>
            <a:off x="10021824" y="4507992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1188720" y="480060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70" name="Shape 268"/>
          <p:cNvSpPr/>
          <p:nvPr/>
        </p:nvSpPr>
        <p:spPr>
          <a:xfrm>
            <a:off x="1572768" y="480060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71" name="Shape 269"/>
          <p:cNvSpPr/>
          <p:nvPr/>
        </p:nvSpPr>
        <p:spPr>
          <a:xfrm>
            <a:off x="1956816" y="480060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72" name="Shape 270"/>
          <p:cNvSpPr/>
          <p:nvPr/>
        </p:nvSpPr>
        <p:spPr>
          <a:xfrm>
            <a:off x="2340864" y="480060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73" name="Shape 271"/>
          <p:cNvSpPr/>
          <p:nvPr/>
        </p:nvSpPr>
        <p:spPr>
          <a:xfrm>
            <a:off x="2724912" y="480060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74" name="Shape 272"/>
          <p:cNvSpPr/>
          <p:nvPr/>
        </p:nvSpPr>
        <p:spPr>
          <a:xfrm>
            <a:off x="3108960" y="480060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75" name="Shape 273"/>
          <p:cNvSpPr/>
          <p:nvPr/>
        </p:nvSpPr>
        <p:spPr>
          <a:xfrm>
            <a:off x="3493008" y="480060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76" name="Shape 274"/>
          <p:cNvSpPr/>
          <p:nvPr/>
        </p:nvSpPr>
        <p:spPr>
          <a:xfrm>
            <a:off x="3877056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4261104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4645152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5029200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5413248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797296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6181344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6565392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6949440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7333488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7717536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8101584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>
            <a:off x="8485632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>
            <a:off x="8869680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9253728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>
            <a:off x="9637776" y="4800600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>
            <a:off x="10021824" y="4800600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1188720" y="509320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>
            <a:off x="1572768" y="509320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1956816" y="509320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2340864" y="509320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97" name="Shape 295"/>
          <p:cNvSpPr/>
          <p:nvPr/>
        </p:nvSpPr>
        <p:spPr>
          <a:xfrm>
            <a:off x="2724912" y="509320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3108960" y="509320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3493008" y="509320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3877056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4261104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645152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5029200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5413248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5797296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6181344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6565392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6949440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7333488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10" name="Shape 308"/>
          <p:cNvSpPr/>
          <p:nvPr/>
        </p:nvSpPr>
        <p:spPr>
          <a:xfrm>
            <a:off x="7717536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8101584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8485632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13" name="Shape 311"/>
          <p:cNvSpPr/>
          <p:nvPr/>
        </p:nvSpPr>
        <p:spPr>
          <a:xfrm>
            <a:off x="8869680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14" name="Shape 312"/>
          <p:cNvSpPr/>
          <p:nvPr/>
        </p:nvSpPr>
        <p:spPr>
          <a:xfrm>
            <a:off x="9253728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15" name="Shape 313"/>
          <p:cNvSpPr/>
          <p:nvPr/>
        </p:nvSpPr>
        <p:spPr>
          <a:xfrm>
            <a:off x="9637776" y="5093208"/>
            <a:ext cx="365760" cy="27432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10021824" y="5093208"/>
            <a:ext cx="365760" cy="2743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17" name="Text 315"/>
          <p:cNvSpPr/>
          <p:nvPr/>
        </p:nvSpPr>
        <p:spPr>
          <a:xfrm>
            <a:off x="5413248" y="54315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小时 →</a:t>
            </a:r>
            <a:endParaRPr lang="en-US" sz="900" dirty="0"/>
          </a:p>
        </p:txBody>
      </p:sp>
      <p:sp>
        <p:nvSpPr>
          <p:cNvPr id="318" name="Text 316"/>
          <p:cNvSpPr/>
          <p:nvPr/>
        </p:nvSpPr>
        <p:spPr>
          <a:xfrm>
            <a:off x="457200" y="575157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€/MWh:</a:t>
            </a:r>
            <a:endParaRPr lang="en-US" sz="900" dirty="0"/>
          </a:p>
        </p:txBody>
      </p:sp>
      <p:sp>
        <p:nvSpPr>
          <p:cNvPr id="319" name="Shape 317"/>
          <p:cNvSpPr/>
          <p:nvPr/>
        </p:nvSpPr>
        <p:spPr>
          <a:xfrm>
            <a:off x="1280160" y="5751576"/>
            <a:ext cx="320040" cy="228600"/>
          </a:xfrm>
          <a:prstGeom prst="rect">
            <a:avLst/>
          </a:prstGeom>
          <a:solidFill>
            <a:srgbClr val="F5EFDC"/>
          </a:solidFill>
          <a:ln w="12700">
            <a:solidFill>
              <a:srgbClr val="F5EFDC"/>
            </a:solidFill>
            <a:prstDash val="solid"/>
          </a:ln>
        </p:spPr>
      </p:sp>
      <p:sp>
        <p:nvSpPr>
          <p:cNvPr id="320" name="Text 318"/>
          <p:cNvSpPr/>
          <p:nvPr/>
        </p:nvSpPr>
        <p:spPr>
          <a:xfrm>
            <a:off x="1600200" y="57515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&lt;60</a:t>
            </a:r>
            <a:endParaRPr lang="en-US" sz="900" dirty="0"/>
          </a:p>
        </p:txBody>
      </p:sp>
      <p:sp>
        <p:nvSpPr>
          <p:cNvPr id="321" name="Shape 319"/>
          <p:cNvSpPr/>
          <p:nvPr/>
        </p:nvSpPr>
        <p:spPr>
          <a:xfrm>
            <a:off x="2240280" y="5751576"/>
            <a:ext cx="320040" cy="228600"/>
          </a:xfrm>
          <a:prstGeom prst="rect">
            <a:avLst/>
          </a:prstGeom>
          <a:solidFill>
            <a:srgbClr val="E8D9A8"/>
          </a:solidFill>
          <a:ln w="12700">
            <a:solidFill>
              <a:srgbClr val="E8D9A8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2560320" y="57515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60-85</a:t>
            </a:r>
            <a:endParaRPr lang="en-US" sz="900" dirty="0"/>
          </a:p>
        </p:txBody>
      </p:sp>
      <p:sp>
        <p:nvSpPr>
          <p:cNvPr id="323" name="Shape 321"/>
          <p:cNvSpPr/>
          <p:nvPr/>
        </p:nvSpPr>
        <p:spPr>
          <a:xfrm>
            <a:off x="3200400" y="5751576"/>
            <a:ext cx="320040" cy="22860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3520440" y="57515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85-110</a:t>
            </a:r>
            <a:endParaRPr lang="en-US" sz="900" dirty="0"/>
          </a:p>
        </p:txBody>
      </p:sp>
      <p:sp>
        <p:nvSpPr>
          <p:cNvPr id="325" name="Shape 323"/>
          <p:cNvSpPr/>
          <p:nvPr/>
        </p:nvSpPr>
        <p:spPr>
          <a:xfrm>
            <a:off x="4160520" y="5751576"/>
            <a:ext cx="320040" cy="228600"/>
          </a:xfrm>
          <a:prstGeom prst="rect">
            <a:avLst/>
          </a:prstGeom>
          <a:solidFill>
            <a:srgbClr val="B07B30"/>
          </a:solidFill>
          <a:ln w="12700">
            <a:solidFill>
              <a:srgbClr val="B07B30"/>
            </a:solidFill>
            <a:prstDash val="solid"/>
          </a:ln>
        </p:spPr>
      </p:sp>
      <p:sp>
        <p:nvSpPr>
          <p:cNvPr id="326" name="Text 324"/>
          <p:cNvSpPr/>
          <p:nvPr/>
        </p:nvSpPr>
        <p:spPr>
          <a:xfrm>
            <a:off x="4480560" y="57515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110-135</a:t>
            </a:r>
            <a:endParaRPr lang="en-US" sz="900" dirty="0"/>
          </a:p>
        </p:txBody>
      </p:sp>
      <p:sp>
        <p:nvSpPr>
          <p:cNvPr id="327" name="Shape 325"/>
          <p:cNvSpPr/>
          <p:nvPr/>
        </p:nvSpPr>
        <p:spPr>
          <a:xfrm>
            <a:off x="5120640" y="5751576"/>
            <a:ext cx="320040" cy="228600"/>
          </a:xfrm>
          <a:prstGeom prst="rect">
            <a:avLst/>
          </a:prstGeom>
          <a:solidFill>
            <a:srgbClr val="8C5A1F"/>
          </a:solidFill>
          <a:ln w="12700">
            <a:solidFill>
              <a:srgbClr val="8C5A1F"/>
            </a:solidFill>
            <a:prstDash val="solid"/>
          </a:ln>
        </p:spPr>
      </p:sp>
      <p:sp>
        <p:nvSpPr>
          <p:cNvPr id="328" name="Text 326"/>
          <p:cNvSpPr/>
          <p:nvPr/>
        </p:nvSpPr>
        <p:spPr>
          <a:xfrm>
            <a:off x="5440680" y="57515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135-160</a:t>
            </a:r>
            <a:endParaRPr lang="en-US" sz="900" dirty="0"/>
          </a:p>
        </p:txBody>
      </p:sp>
      <p:sp>
        <p:nvSpPr>
          <p:cNvPr id="329" name="Shape 327"/>
          <p:cNvSpPr/>
          <p:nvPr/>
        </p:nvSpPr>
        <p:spPr>
          <a:xfrm>
            <a:off x="6080760" y="5751576"/>
            <a:ext cx="320040" cy="228600"/>
          </a:xfrm>
          <a:prstGeom prst="rect">
            <a:avLst/>
          </a:prstGeom>
          <a:solidFill>
            <a:srgbClr val="5C3712"/>
          </a:solidFill>
          <a:ln w="12700">
            <a:solidFill>
              <a:srgbClr val="5C3712"/>
            </a:solidFill>
            <a:prstDash val="solid"/>
          </a:ln>
        </p:spPr>
      </p:sp>
      <p:sp>
        <p:nvSpPr>
          <p:cNvPr id="330" name="Text 328"/>
          <p:cNvSpPr/>
          <p:nvPr/>
        </p:nvSpPr>
        <p:spPr>
          <a:xfrm>
            <a:off x="6400800" y="57515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&gt;160</a:t>
            </a:r>
            <a:endParaRPr lang="en-US" sz="900" dirty="0"/>
          </a:p>
        </p:txBody>
      </p:sp>
      <p:sp>
        <p:nvSpPr>
          <p:cNvPr id="331" name="Shape 329"/>
          <p:cNvSpPr/>
          <p:nvPr/>
        </p:nvSpPr>
        <p:spPr>
          <a:xfrm>
            <a:off x="10652760" y="1508760"/>
            <a:ext cx="1143000" cy="442569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6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10652760" y="1508760"/>
            <a:ext cx="114300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10835640" y="1508760"/>
            <a:ext cx="960120" cy="4334256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6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10835640" y="1508760"/>
            <a:ext cx="96012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335" name="Text 333"/>
          <p:cNvSpPr/>
          <p:nvPr/>
        </p:nvSpPr>
        <p:spPr>
          <a:xfrm>
            <a:off x="11064240" y="167335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观察</a:t>
            </a:r>
            <a:endParaRPr lang="en-US" sz="1000" dirty="0"/>
          </a:p>
        </p:txBody>
      </p:sp>
      <p:sp>
        <p:nvSpPr>
          <p:cNvPr id="336" name="Text 334"/>
          <p:cNvSpPr/>
          <p:nvPr/>
        </p:nvSpPr>
        <p:spPr>
          <a:xfrm>
            <a:off x="10972800" y="1874520"/>
            <a:ext cx="777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晚峰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持续深色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夏季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中午淡色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 夜间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始终最淡</a:t>
            </a:r>
            <a:endParaRPr lang="en-US" sz="9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冬季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整体深色</a:t>
            </a:r>
            <a:endParaRPr lang="en-US" sz="900" dirty="0"/>
          </a:p>
        </p:txBody>
      </p:sp>
      <p:sp>
        <p:nvSpPr>
          <p:cNvPr id="337" name="Shape 33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338" name="Text 336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热力图解读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颜色越深价格越高;  注意 5月 11-14 时浅黄 (光伏谷) 与 19-21 时深棕 (晚峰) 形成的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高对比 "沙漏" 模式</a:t>
            </a:r>
            <a:endParaRPr lang="en-US" sz="1100" dirty="0"/>
          </a:p>
        </p:txBody>
      </p:sp>
      <p:sp>
        <p:nvSpPr>
          <p:cNvPr id="339" name="Shape 33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341" name="Text 33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· 04  ·  15分钟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15分钟 MTU  ·  小时内套利窗口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6263640" y="150876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457200" y="5989320"/>
            <a:ext cx="2750058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94360" y="5989320"/>
            <a:ext cx="13750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套利交易点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832229" y="5989320"/>
            <a:ext cx="12835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→ 32</a:t>
            </a:r>
            <a:pPr algn="r"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×4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298698" y="5989320"/>
            <a:ext cx="2750058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35858" y="5989320"/>
            <a:ext cx="13750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小时内波动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673727" y="5989320"/>
            <a:ext cx="12835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20-40</a:t>
            </a:r>
            <a:pPr algn="r"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%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40196" y="5989320"/>
            <a:ext cx="2750058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277356" y="5989320"/>
            <a:ext cx="13750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最大15min价差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515225" y="5989320"/>
            <a:ext cx="12835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pPr algn="r"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981694" y="5989320"/>
            <a:ext cx="2750058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118854" y="5989320"/>
            <a:ext cx="137502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C-rate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0356723" y="5989320"/>
            <a:ext cx="128358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0.5</a:t>
            </a:r>
            <a:pPr algn="r"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C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01  ·  项目1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项目1 实际售电价 vs 5 个市场基准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个月对标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5 基准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4108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项目1 12 月均价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41080" y="27889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100.3</a:t>
            </a:r>
            <a:pPr indent="0" marL="0">
              <a:buNone/>
            </a:pPr>
            <a:r>
              <a:rPr lang="en-US" sz="1100" dirty="0">
                <a:solidFill>
                  <a:srgbClr val="A8B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€/MWh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8641080" y="3383280"/>
            <a:ext cx="2880360" cy="0"/>
          </a:xfrm>
          <a:prstGeom prst="line">
            <a:avLst/>
          </a:prstGeom>
          <a:noFill/>
          <a:ln w="6350">
            <a:solidFill>
              <a:srgbClr val="2A5D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41080" y="3474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基准 折价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641080" y="3840480"/>
            <a:ext cx="109728" cy="18288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23960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中北 (CNOR)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561320" y="3794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-13.2%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641080" y="4297680"/>
            <a:ext cx="109728" cy="1828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23960" y="42519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F0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1056132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-14.3%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41080" y="4754880"/>
            <a:ext cx="109728" cy="182880"/>
          </a:xfrm>
          <a:prstGeom prst="rect">
            <a:avLst/>
          </a:prstGeom>
          <a:solidFill>
            <a:srgbClr val="2A7A78"/>
          </a:solidFill>
          <a:ln w="12700">
            <a:solidFill>
              <a:srgbClr val="2A7A7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823960" y="4709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F1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561320" y="4709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-17.7%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41080" y="5212080"/>
            <a:ext cx="109728" cy="182880"/>
          </a:xfrm>
          <a:prstGeom prst="rect">
            <a:avLst/>
          </a:prstGeom>
          <a:solidFill>
            <a:srgbClr val="C75450"/>
          </a:solidFill>
          <a:ln w="12700">
            <a:solidFill>
              <a:srgbClr val="C7545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823960" y="5166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F2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561320" y="5166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7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-19.5%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对标发现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项目1 折价对  中北 -13.2%  ·  PUN F0 -14.4%  ·  PUN F1 -17.7%  · 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F2 -19.5% (最大)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02  ·  项目1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捕获率月度分解  ·  Capture Rate Monthly</a:t>
            </a:r>
            <a:endParaRPr lang="en-US" sz="2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508760"/>
          <a:ext cx="7680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960120" y="1975104"/>
            <a:ext cx="6858000" cy="0"/>
          </a:xfrm>
          <a:prstGeom prst="line">
            <a:avLst/>
          </a:prstGeom>
          <a:noFill/>
          <a:ln w="19050">
            <a:solidFill>
              <a:srgbClr val="C75450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640080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C7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= 完全捕获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8412480" y="1508760"/>
            <a:ext cx="3291840" cy="429768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412480" y="150876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41080" y="1673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捕获率分析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41080" y="1947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641080" y="21031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个月均值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32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</a:t>
            </a:r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C5CB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中北 baseload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641080" y="3337560"/>
            <a:ext cx="2880360" cy="0"/>
          </a:xfrm>
          <a:prstGeom prst="line">
            <a:avLst/>
          </a:prstGeom>
          <a:noFill/>
          <a:ln w="6350">
            <a:solidFill>
              <a:srgbClr val="2A5D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41080" y="3474720"/>
            <a:ext cx="2880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月度区间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最低: </a:t>
            </a:r>
            <a:pPr indent="0" marL="0">
              <a:buNone/>
            </a:pPr>
            <a:r>
              <a:rPr lang="en-US" sz="1400" b="1" dirty="0">
                <a:solidFill>
                  <a:srgbClr val="C7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58%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(25-5月)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5CB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最高: </a:t>
            </a:r>
            <a:pPr indent="0" marL="0">
              <a:buNone/>
            </a:pPr>
            <a:r>
              <a:rPr lang="en-US" sz="14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105%</a:t>
            </a:r>
            <a:pPr indent="0" marL="0">
              <a:buNone/>
            </a:pPr>
            <a:r>
              <a:rPr lang="en-US" sz="900" dirty="0">
                <a:solidFill>
                  <a:srgbClr val="A8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(26-1月)</a:t>
            </a:r>
            <a:endParaRPr lang="en-US" sz="10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夏季 &lt; 冬季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季节性分解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夏季捕获率 70-85% (光伏蚕食) +  冬季捕获率 95-105% (光伏稀缺, 晨/晚峰捕获);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1月 26 超 100% 因冬季捕获率上升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03  ·  项目1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光伏蚕食量化  ·  PV Cannibalization Loss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75005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2750058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45920"/>
            <a:ext cx="247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年发电量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475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2,966</a:t>
            </a:r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MWh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98698" y="1508760"/>
            <a:ext cx="275005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8698" y="1508760"/>
            <a:ext cx="2750058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35858" y="1645920"/>
            <a:ext cx="247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年实际收入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35858" y="1892808"/>
            <a:ext cx="2475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297K</a:t>
            </a:r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EUR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140196" y="1508760"/>
            <a:ext cx="275005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40196" y="1508760"/>
            <a:ext cx="2750058" cy="54864"/>
          </a:xfrm>
          <a:prstGeom prst="rect">
            <a:avLst/>
          </a:prstGeom>
          <a:solidFill>
            <a:srgbClr val="A8B0AC"/>
          </a:solidFill>
          <a:ln w="12700">
            <a:solidFill>
              <a:srgbClr val="A8B0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7356" y="1645920"/>
            <a:ext cx="247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若按 CNOR 卖电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77356" y="1892808"/>
            <a:ext cx="2475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343K</a:t>
            </a:r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EUR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981694" y="1508760"/>
            <a:ext cx="275005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81694" y="1508760"/>
            <a:ext cx="2750058" cy="54864"/>
          </a:xfrm>
          <a:prstGeom prst="rect">
            <a:avLst/>
          </a:prstGeom>
          <a:solidFill>
            <a:srgbClr val="C75450"/>
          </a:solidFill>
          <a:ln w="12700">
            <a:solidFill>
              <a:srgbClr val="C754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18854" y="1645920"/>
            <a:ext cx="24757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蚕食损失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18854" y="1892808"/>
            <a:ext cx="2475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~45K</a:t>
            </a:r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EUR/年</a:t>
            </a:r>
            <a:endParaRPr lang="en-US" sz="22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57200" y="2606040"/>
          <a:ext cx="76809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8412480" y="2606040"/>
            <a:ext cx="3291840" cy="320040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12480" y="2606040"/>
            <a:ext cx="3291840" cy="54864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641080" y="27706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蚕食机制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641080" y="30449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-13%?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8641080" y="320040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白天供给过剩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41080" y="34290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光伏集中在 10-16h 出力, 全市场同时供给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641080" y="385876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时段折价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641080" y="408736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项目1 主要在 F1 时段发电, 但 F1 价格被光伏拉低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8641080" y="451713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缺乏时间套利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641080" y="474573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无储能 → 必须立即卖电, 无法等待晚峰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641080" y="517550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结构性挑战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641080" y="540410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随光伏装机持续上升, 折价幅度未来扩大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估算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年损失 ~45K EUR/年 = 蚕食量化基线;  生命周期 (15-20年) 累计损失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675K-900K EUR — 接近 BESS 的整套 CAPEX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33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· 04  ·  项目1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BESS 加值  ·  情景对比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666744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A8B0A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3666744" cy="365760"/>
          </a:xfrm>
          <a:prstGeom prst="rect">
            <a:avLst/>
          </a:prstGeom>
          <a:solidFill>
            <a:srgbClr val="A8B0AC"/>
          </a:solidFill>
          <a:ln w="12700">
            <a:solidFill>
              <a:srgbClr val="A8B0A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无 BESS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468880"/>
            <a:ext cx="3300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297K</a:t>
            </a:r>
            <a:pPr indent="0" marL="0"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11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EUR/年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100.3 €/MWh × 2,966 MWh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390448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捕获率 87%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419709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蚕食损失 -45K EUR/年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3300984" cy="45720"/>
          </a:xfrm>
          <a:prstGeom prst="rect">
            <a:avLst/>
          </a:prstGeom>
          <a:solidFill>
            <a:srgbClr val="D9D4C6"/>
          </a:solidFill>
          <a:ln w="12700">
            <a:solidFill>
              <a:srgbClr val="D9D4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8348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90572" y="498348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EUR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90572" y="530352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61104" y="1508760"/>
            <a:ext cx="3666744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D4A0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61104" y="1508760"/>
            <a:ext cx="3666744" cy="36576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43984" y="155448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43984" y="2011680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 MW / 2 MWh BESS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43984" y="2468880"/>
            <a:ext cx="3300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~408K</a:t>
            </a:r>
            <a:pPr indent="0" marL="0"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11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EUR/年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443984" y="361188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+ 套利 ~16K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43984" y="390448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+ MACSE 容量 ~70K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43984" y="419709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+ MSD 辅助 ~25K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43984" y="4892040"/>
            <a:ext cx="3300984" cy="45720"/>
          </a:xfrm>
          <a:prstGeom prst="rect">
            <a:avLst/>
          </a:prstGeom>
          <a:solidFill>
            <a:srgbClr val="D9D4C6"/>
          </a:solidFill>
          <a:ln w="12700">
            <a:solidFill>
              <a:srgbClr val="D9D4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498348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94476" y="498348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~750K EUR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443984" y="530352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094476" y="530352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 年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65008" y="1508760"/>
            <a:ext cx="3666744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0E4D4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65008" y="1508760"/>
            <a:ext cx="3666744" cy="36576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47888" y="155448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激进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247888" y="2011680"/>
            <a:ext cx="3300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+ 2 MW / 4 MWh BESS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247888" y="2468880"/>
            <a:ext cx="33009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~480K</a:t>
            </a:r>
            <a:pPr indent="0" marL="0">
              <a:buNone/>
            </a:pPr>
            <a:endParaRPr lang="en-US" sz="3200" dirty="0"/>
          </a:p>
          <a:p>
            <a:pPr indent="0" marL="0">
              <a:buNone/>
            </a:pPr>
            <a:r>
              <a:rPr lang="en-US" sz="11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EUR/年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247888" y="361188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+ 套利 ~32K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47888" y="3904488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+ MACSE 容量 ~120K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47888" y="4197096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+ MSD 辅助 ~31K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247888" y="4892040"/>
            <a:ext cx="3300984" cy="45720"/>
          </a:xfrm>
          <a:prstGeom prst="rect">
            <a:avLst/>
          </a:prstGeom>
          <a:solidFill>
            <a:srgbClr val="D9D4C6"/>
          </a:solidFill>
          <a:ln w="12700">
            <a:solidFill>
              <a:srgbClr val="D9D4C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47888" y="498348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9898380" y="498348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~1.4M EUR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47888" y="530352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898380" y="5303520"/>
            <a:ext cx="16504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~7.5 年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MW / 2 MWh BESS — 实现 ROI 平衡 (回收期 7 年) + 容量市场资格 + 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无需大规模重新连接 (变电站容量充足)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01  ·  套利经济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BESS 峰谷套利框架  ·  Single-Cycle Economics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39496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539496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276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单次循环机制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Charge/Discharge Cycle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2377440" cy="1371600"/>
          </a:xfrm>
          <a:prstGeom prst="rect">
            <a:avLst/>
          </a:prstGeom>
          <a:solidFill>
            <a:srgbClr val="5A8F6B">
              <a:alpha val="20000"/>
            </a:srgbClr>
          </a:solidFill>
          <a:ln w="12700">
            <a:solidFill>
              <a:srgbClr val="5A8F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充电  CHARGE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11:00 - 14:00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买价: </a:t>
            </a:r>
            <a:pPr indent="0" marL="0">
              <a:buNone/>
            </a:pPr>
            <a:r>
              <a:rPr lang="en-US" sz="1300" b="1" dirty="0">
                <a:solidFill>
                  <a:srgbClr val="5A8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~55 €/MWh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光伏谷 / F1 折价时段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 rot="5400000">
            <a:off x="3246120" y="2926080"/>
            <a:ext cx="320040" cy="365760"/>
          </a:xfrm>
          <a:prstGeom prst="rtTriangl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2423160"/>
            <a:ext cx="2103120" cy="1371600"/>
          </a:xfrm>
          <a:prstGeom prst="rect">
            <a:avLst/>
          </a:prstGeom>
          <a:solidFill>
            <a:srgbClr val="C75450">
              <a:alpha val="20000"/>
            </a:srgbClr>
          </a:solidFill>
          <a:ln w="12700">
            <a:solidFill>
              <a:srgbClr val="C754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5146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7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放电  DISCHARGE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2788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19:00 - 21:00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3108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卖价: </a:t>
            </a:r>
            <a:pPr indent="0" marL="0">
              <a:buNone/>
            </a:pPr>
            <a:r>
              <a:rPr lang="en-US" sz="1300" b="1" dirty="0">
                <a:solidFill>
                  <a:srgbClr val="C754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~140 €/MWh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晚峰 / 高需求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4023360"/>
            <a:ext cx="5029200" cy="1600200"/>
          </a:xfrm>
          <a:prstGeom prst="rect">
            <a:avLst/>
          </a:prstGeom>
          <a:solidFill>
            <a:srgbClr val="F4EFE3"/>
          </a:solidFill>
          <a:ln w="9525">
            <a:solidFill>
              <a:srgbClr val="D4A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114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单次循环净利润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8680" y="44348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价差: </a:t>
            </a:r>
            <a:pPr indent="0" marL="0">
              <a:buNone/>
            </a:pPr>
            <a:r>
              <a:rPr lang="en-US" sz="11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140 - 55 = </a:t>
            </a:r>
            <a:pPr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85 €/MWh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容量 2 MWh × 效率 0.88 = 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EUR / 单次循环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180 循环/年 ≈ </a:t>
            </a:r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27,000 EUR/年 (毛套利)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26480" y="1508760"/>
            <a:ext cx="557784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4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1508760"/>
            <a:ext cx="55778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6733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经济性参数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19202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Parameters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09360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规模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869680" y="2194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MW / 2 MWh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424160" y="2194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LFP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09360" y="2560320"/>
            <a:ext cx="5303520" cy="0"/>
          </a:xfrm>
          <a:prstGeom prst="line">
            <a:avLst/>
          </a:prstGeom>
          <a:noFill/>
          <a:ln w="6350">
            <a:solidFill>
              <a:srgbClr val="D9D4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651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效率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869680" y="2651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424160" y="26517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AC-to-AC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3017520"/>
            <a:ext cx="5303520" cy="0"/>
          </a:xfrm>
          <a:prstGeom prst="line">
            <a:avLst/>
          </a:prstGeom>
          <a:noFill/>
          <a:ln w="6350">
            <a:solidFill>
              <a:srgbClr val="D9D4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31089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C-rate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869680" y="31089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0.5C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0424160" y="3108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适配 15min MTU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3474720"/>
            <a:ext cx="5303520" cy="0"/>
          </a:xfrm>
          <a:prstGeom prst="line">
            <a:avLst/>
          </a:prstGeom>
          <a:noFill/>
          <a:ln w="6350">
            <a:solidFill>
              <a:srgbClr val="D9D4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5661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年循环数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869680" y="35661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180-200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424160" y="3566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夏季密集 / 冬季稀疏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3931920"/>
            <a:ext cx="5303520" cy="0"/>
          </a:xfrm>
          <a:prstGeom prst="line">
            <a:avLst/>
          </a:prstGeom>
          <a:noFill/>
          <a:ln w="6350">
            <a:solidFill>
              <a:srgbClr val="D9D4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40233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F2-F1 春夏平均价差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869680" y="40233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~17 €/MWh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10424160" y="4023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季节性核心信号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4389120"/>
            <a:ext cx="5303520" cy="0"/>
          </a:xfrm>
          <a:prstGeom prst="line">
            <a:avLst/>
          </a:prstGeom>
          <a:noFill/>
          <a:ln w="6350">
            <a:solidFill>
              <a:srgbClr val="D9D4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09360" y="4480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日内最大价差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869680" y="44805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~100 €/MWh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0424160" y="4480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夏季 11h vs 20h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4846320"/>
            <a:ext cx="5303520" cy="0"/>
          </a:xfrm>
          <a:prstGeom prst="line">
            <a:avLst/>
          </a:prstGeom>
          <a:noFill/>
          <a:ln w="6350">
            <a:solidFill>
              <a:srgbClr val="D9D4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9360" y="49377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退化率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8869680" y="4937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2-3%/年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0424160" y="49377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 10 年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套利毛值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27K EUR/年 仅来自能量套利 (arbitrage),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完整收入栈见下一页 (含 MACSE + MSD)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02  ·  按区域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BESS 经济性  ·  WiseGlow 5 区域对比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6596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12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F2-F1 春夏价差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61772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套利收益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8932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MACSE 容量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26948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 辅助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49640" y="15087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合计 EUR/年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829800" y="150876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65960"/>
            <a:ext cx="11274552" cy="731520"/>
          </a:xfrm>
          <a:prstGeom prst="rect">
            <a:avLst/>
          </a:prstGeom>
          <a:solidFill>
            <a:srgbClr val="F0DDB0"/>
          </a:solidFill>
          <a:ln w="3175">
            <a:solidFill>
              <a:srgbClr val="D9D4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965960"/>
            <a:ext cx="91440" cy="73152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659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中北 CNOR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33172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6596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4612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17.0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€/MWh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17720" y="19659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8932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6948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49640" y="196596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pPr algn="ctr" indent="0" marL="0">
              <a:buNone/>
            </a:pPr>
            <a:r>
              <a:rPr lang="en-US" sz="110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966960" y="2148840"/>
            <a:ext cx="1033272" cy="36576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66960" y="2148840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BESS+ ✓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697480"/>
            <a:ext cx="11274552" cy="731520"/>
          </a:xfrm>
          <a:prstGeom prst="rect">
            <a:avLst/>
          </a:prstGeom>
          <a:solidFill>
            <a:srgbClr val="F8F4E8"/>
          </a:solidFill>
          <a:ln w="3175">
            <a:solidFill>
              <a:srgbClr val="D9D4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26974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中南 CSUD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06324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Lazio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65960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 Lazio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4612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16.0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€/MWh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617720" y="2697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989320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269480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49640" y="26974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106</a:t>
            </a:r>
            <a:pPr algn="ctr" indent="0" marL="0">
              <a:buNone/>
            </a:pPr>
            <a:r>
              <a:rPr lang="en-US" sz="110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9966960" y="2880360"/>
            <a:ext cx="1033272" cy="36576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66960" y="2880360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429000"/>
            <a:ext cx="11274552" cy="731520"/>
          </a:xfrm>
          <a:prstGeom prst="rect">
            <a:avLst/>
          </a:prstGeom>
          <a:solidFill>
            <a:srgbClr val="FFFFFF"/>
          </a:solidFill>
          <a:ln w="3175">
            <a:solidFill>
              <a:srgbClr val="D9D4C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429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南 SUD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379476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Basilicata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965960" y="3429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 Basilicata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246120" y="3429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€/MWh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17720" y="3429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989320" y="3429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69480" y="3429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549640" y="3429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</a:t>
            </a:r>
            <a:pPr algn="ctr" indent="0" marL="0">
              <a:buNone/>
            </a:pPr>
            <a:r>
              <a:rPr lang="en-US" sz="110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9966960" y="3611880"/>
            <a:ext cx="1033272" cy="36576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966960" y="3611880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✓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57200" y="4160520"/>
            <a:ext cx="11274552" cy="731520"/>
          </a:xfrm>
          <a:prstGeom prst="rect">
            <a:avLst/>
          </a:prstGeom>
          <a:solidFill>
            <a:srgbClr val="F8F4E8"/>
          </a:solidFill>
          <a:ln w="3175">
            <a:solidFill>
              <a:srgbClr val="D9D4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1605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西西里 SICI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45262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Sicilia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965960" y="4160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 Sicilia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246120" y="4160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24.5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€/MWh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617720" y="4160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989320" y="4160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7269480" y="4160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8549640" y="4160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pPr algn="ctr" indent="0" marL="0">
              <a:buNone/>
            </a:pPr>
            <a:r>
              <a:rPr lang="en-US" sz="110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9966960" y="4343400"/>
            <a:ext cx="1033272" cy="365760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66960" y="4343400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✓✓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4892040"/>
            <a:ext cx="11274552" cy="731520"/>
          </a:xfrm>
          <a:prstGeom prst="rect">
            <a:avLst/>
          </a:prstGeom>
          <a:solidFill>
            <a:srgbClr val="FFFFFF"/>
          </a:solidFill>
          <a:ln w="3175">
            <a:solidFill>
              <a:srgbClr val="D9D4C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8920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撒丁岛 SARD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525780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Sardegna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965960" y="4892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 Sardegna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246120" y="4892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21.0</a:t>
            </a:r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€/MWh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4617720" y="4892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5989320" y="4892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7269480" y="4892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pPr algn="ctr" indent="0" marL="0">
              <a:buNone/>
            </a:pPr>
            <a:r>
              <a:rPr lang="en-US" sz="10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8549640" y="4892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</a:t>
            </a:r>
            <a:pPr algn="ctr" indent="0" marL="0">
              <a:buNone/>
            </a:pPr>
            <a:r>
              <a:rPr lang="en-US" sz="1100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9966960" y="5074920"/>
            <a:ext cx="1033272" cy="365760"/>
          </a:xfrm>
          <a:prstGeom prst="rect">
            <a:avLst/>
          </a:prstGeom>
          <a:solidFill>
            <a:srgbClr val="C75450"/>
          </a:solidFill>
          <a:ln w="12700">
            <a:solidFill>
              <a:srgbClr val="C7545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966960" y="5074920"/>
            <a:ext cx="1033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 必需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排序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西西里 (129K) &gt; 撒丁岛 (123K) &gt; 巴西利卡塔 (116K) &gt; 项目1 (111K) &gt; 拉齐奥 (106K)  · 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SICI 套利收益最高, SARD 因结构性低价 BESS 为强制配套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33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· 03  ·  规模选择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BESS 容量 × 时长矩阵  ·  Sizing Matrix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时长 →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小时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04488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小时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91656" y="1280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小时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691640"/>
            <a:ext cx="868680" cy="4059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功率</a:t>
            </a:r>
            <a:endParaRPr lang="en-US" sz="1000" dirty="0"/>
          </a:p>
          <a:p>
            <a:pPr indent="0" marL="0">
              <a:buNone/>
            </a:pPr>
            <a:r>
              <a:rPr lang="en-US" sz="1000" b="1" i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691640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81528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471416"/>
            <a:ext cx="868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17320" y="1691640"/>
            <a:ext cx="2377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17320" y="1691640"/>
            <a:ext cx="23774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54480" y="1801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年收入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pPr indent="0" marL="0">
              <a:buNone/>
            </a:pPr>
            <a:r>
              <a:rPr lang="en-US" sz="11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2468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 </a:t>
            </a:r>
            <a:pPr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280K EUR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  </a:t>
            </a:r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年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904488" y="1691640"/>
            <a:ext cx="2377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04488" y="1691640"/>
            <a:ext cx="23774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1648" y="1801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年收入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041648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pPr indent="0" marL="0">
              <a:buNone/>
            </a:pPr>
            <a:r>
              <a:rPr lang="en-US" sz="11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041648" y="2468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 </a:t>
            </a:r>
            <a:pPr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420K EUR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  </a:t>
            </a:r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年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91656" y="1691640"/>
            <a:ext cx="2377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1656" y="1691640"/>
            <a:ext cx="23774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28816" y="1801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年收入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28816" y="19842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pPr indent="0" marL="0">
              <a:buNone/>
            </a:pPr>
            <a:r>
              <a:rPr lang="en-US" sz="11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528816" y="2468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 </a:t>
            </a:r>
            <a:pPr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680K EUR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  </a:t>
            </a:r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 年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417320" y="3081528"/>
            <a:ext cx="2377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17320" y="3081528"/>
            <a:ext cx="23774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31912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年收入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54480" y="33741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</a:t>
            </a:r>
            <a:pPr indent="0" marL="0">
              <a:buNone/>
            </a:pPr>
            <a:r>
              <a:rPr lang="en-US" sz="11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54480" y="38587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 </a:t>
            </a:r>
            <a:pPr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480K EUR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  </a:t>
            </a:r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年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904488" y="3081528"/>
            <a:ext cx="2377440" cy="1280160"/>
          </a:xfrm>
          <a:prstGeom prst="rect">
            <a:avLst/>
          </a:prstGeom>
          <a:solidFill>
            <a:srgbClr val="D4A04A"/>
          </a:solidFill>
          <a:ln w="25400">
            <a:solidFill>
              <a:srgbClr val="D4A0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904488" y="3081528"/>
            <a:ext cx="23774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41648" y="31912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年收入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041648" y="33741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111</a:t>
            </a:r>
            <a:pPr indent="0" marL="0">
              <a:buNone/>
            </a:pPr>
            <a:r>
              <a:rPr lang="en-US" sz="1100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4041648" y="38587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 </a:t>
            </a:r>
            <a:pPr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750K EUR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  </a:t>
            </a:r>
            <a:pPr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6.8 年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367528" y="31729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推荐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91656" y="3081528"/>
            <a:ext cx="2377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91656" y="3081528"/>
            <a:ext cx="23774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28816" y="31912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年收入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28816" y="337413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132</a:t>
            </a:r>
            <a:pPr indent="0" marL="0">
              <a:buNone/>
            </a:pPr>
            <a:r>
              <a:rPr lang="en-US" sz="11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528816" y="385876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 </a:t>
            </a:r>
            <a:pPr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1180K EUR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  </a:t>
            </a:r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 年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417320" y="4471416"/>
            <a:ext cx="2377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417320" y="4471416"/>
            <a:ext cx="23774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554480" y="45811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年收入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554480" y="47640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145</a:t>
            </a:r>
            <a:pPr indent="0" marL="0">
              <a:buNone/>
            </a:pPr>
            <a:r>
              <a:rPr lang="en-US" sz="11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1554480" y="52486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 </a:t>
            </a:r>
            <a:pPr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880K EUR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  </a:t>
            </a:r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年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904488" y="4471416"/>
            <a:ext cx="2377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04488" y="4471416"/>
            <a:ext cx="23774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41648" y="45811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年收入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041648" y="47640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</a:t>
            </a:r>
            <a:pPr indent="0" marL="0">
              <a:buNone/>
            </a:pPr>
            <a:r>
              <a:rPr lang="en-US" sz="11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041648" y="52486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 </a:t>
            </a:r>
            <a:pPr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1400K EUR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  </a:t>
            </a:r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7.7 年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391656" y="4471416"/>
            <a:ext cx="237744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91656" y="4471416"/>
            <a:ext cx="2377440" cy="54864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528816" y="458114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年收入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528816" y="476402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220</a:t>
            </a:r>
            <a:pPr indent="0" marL="0">
              <a:buNone/>
            </a:pPr>
            <a:r>
              <a:rPr lang="en-US" sz="1100" dirty="0">
                <a:solidFill>
                  <a:srgbClr val="4A59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6528816" y="524865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 </a:t>
            </a:r>
            <a:pPr indent="0" marL="0">
              <a:buNone/>
            </a:pPr>
            <a:r>
              <a:rPr lang="en-US" sz="10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2200K EUR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回收期  </a:t>
            </a:r>
            <a:pPr indent="0" marL="0">
              <a:buNone/>
            </a:pPr>
            <a:r>
              <a:rPr lang="en-US" sz="10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年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E8E2D0"/>
          </a:solidFill>
          <a:ln w="6350">
            <a:solidFill>
              <a:srgbClr val="D4A0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选型逻辑  </a:t>
            </a:r>
            <a:pPr indent="0" marL="0">
              <a:buNone/>
            </a:pPr>
            <a:r>
              <a:rPr lang="en-US" sz="10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MW / 2 MWh 在回收期 (~7年) 和收益 (~111K/年) 之间最佳平衡;  </a:t>
            </a:r>
            <a:pPr indent="0" marL="0">
              <a:buNone/>
            </a:pPr>
            <a:r>
              <a:rPr lang="en-US" sz="105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更长时长 (4h) 边际收益递减 (套利窗口仅 4h)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01  ·  核心结论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深度分析  ·  Key Findings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627632"/>
            <a:ext cx="475488" cy="475488"/>
          </a:xfrm>
          <a:prstGeom prst="ellips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1627632"/>
            <a:ext cx="777240" cy="256032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62763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 上行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057400" y="160020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 持续上行,波动率不变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57400" y="18745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2025 +6.4%  ·  2025 → 2026 YTD +10.6%  ·  CV 维持 16%  ·  套利空间随价格水平等比放大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386584"/>
            <a:ext cx="475488" cy="475488"/>
          </a:xfrm>
          <a:prstGeom prst="ellips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86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188720" y="2386584"/>
            <a:ext cx="777240" cy="256032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3865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新峰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23591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 晚峰已替代 F1 成为日内最高价时段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57400" y="263347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年 F2 全年均价已超 F1 (+6.5 €/MWh)  ·  4-8月  F2 比 F1 高 12-26 €/MWh  ·  光伏蚕食 F1 永久性结构变化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26664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145536"/>
            <a:ext cx="475488" cy="475488"/>
          </a:xfrm>
          <a:prstGeom prst="ellips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1455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188720" y="3145536"/>
            <a:ext cx="777240" cy="256032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314553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区域差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57400" y="311810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区域价差压缩但极端月份仍存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057400" y="339242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→ 2025 均价差 -28%  ·  互联改善 + 储能渗透  ·  但 2024年10月 SICI-SARD 单月 20.8 €/MWh,2026年3月 15.0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785616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904488"/>
            <a:ext cx="475488" cy="475488"/>
          </a:xfrm>
          <a:prstGeom prst="ellips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04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188720" y="3904488"/>
            <a:ext cx="777240" cy="256032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39044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鸭子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057400" y="387705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夏季鸭子曲线极端化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57400" y="415137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5月光伏谷 PUN ~35-50  ·  晚峰 ~140  ·  日内极差 &gt;100 €/MWh  ·  BESS 季节性核心驱动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7200" y="4544568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4663440"/>
            <a:ext cx="475488" cy="475488"/>
          </a:xfrm>
          <a:prstGeom prst="ellips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663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188720" y="4663440"/>
            <a:ext cx="777240" cy="256032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46634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057400" y="463600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项目1 87% 捕获率 = 蚕食信号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057400" y="491032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12月均价 100.3 vs 中北 115.6  ·  折价 -13%  ·  年损失 45K EUR  ·  生命周期累计 675-900K EUR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57200" y="5303520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4C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5422392"/>
            <a:ext cx="475488" cy="475488"/>
          </a:xfrm>
          <a:prstGeom prst="ellipse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5422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188720" y="5422392"/>
            <a:ext cx="777240" cy="256032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88720" y="5422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057400" y="53949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MW / 2 MWh BESS 为最佳配套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057400" y="566928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收入栈 ~111K EUR/年 (套利 16 + MACSE 70 + MSD 25)  ·  CAPEX 750K  ·  回收期 7 年  ·  优于现状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5989320"/>
            <a:ext cx="11274552" cy="502920"/>
          </a:xfrm>
          <a:prstGeom prst="rect">
            <a:avLst/>
          </a:prstGeom>
          <a:solidFill>
            <a:srgbClr val="0E4D4B"/>
          </a:solidFill>
          <a:ln w="12700">
            <a:solidFill>
              <a:srgbClr val="0E4D4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59893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核心命题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PV 单纯模式正在被光伏自身的蚕食结构性侵蚀;  PV + BESS 是  </a:t>
            </a:r>
            <a:pPr indent="0" marL="0">
              <a:buNone/>
            </a:pPr>
            <a:r>
              <a:rPr lang="en-US" sz="1100" b="1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必然的方向, 而非可选优化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4EFE3"/>
          </a:solidFill>
          <a:ln w="12700">
            <a:solidFill>
              <a:srgbClr val="F4EFE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4D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</a:t>
            </a:r>
            <a:pPr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资产运营  ·  GME PUN 深度分析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E4D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91295" y="-1371600"/>
            <a:ext cx="5029200" cy="5029200"/>
          </a:xfrm>
          <a:prstGeom prst="ellipse">
            <a:avLst/>
          </a:prstGeom>
          <a:solidFill>
            <a:srgbClr val="D4A04A">
              <a:alpha val="40000"/>
            </a:srgbClr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502920"/>
            <a:ext cx="164592" cy="164592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43891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02  ·  行动路径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  ·  执行路径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1274552" cy="749808"/>
          </a:xfrm>
          <a:prstGeom prst="rect">
            <a:avLst/>
          </a:prstGeom>
          <a:solidFill>
            <a:srgbClr val="0A3D3B"/>
          </a:solidFill>
          <a:ln w="9525">
            <a:solidFill>
              <a:srgbClr val="D4A0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91640"/>
            <a:ext cx="1691640" cy="749808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 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31720" y="17830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技术尽调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31720" y="2075688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委托 EPC 评估项目1 现场储能集成可行性 (变电站容量 / 接入条件 / 占地)。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32888"/>
            <a:ext cx="11274552" cy="749808"/>
          </a:xfrm>
          <a:prstGeom prst="rect">
            <a:avLst/>
          </a:prstGeom>
          <a:solidFill>
            <a:srgbClr val="0A3D3B"/>
          </a:solidFill>
          <a:ln w="9525">
            <a:solidFill>
              <a:srgbClr val="D4A0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32888"/>
            <a:ext cx="1691640" cy="749808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32888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个月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331720" y="26243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供应商选型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331720" y="2916936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锁定 2-3 家 BESS 供应商 (Sungrow / Huawei / Fluence / Tesla) 提交可比报价。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374136"/>
            <a:ext cx="11274552" cy="749808"/>
          </a:xfrm>
          <a:prstGeom prst="rect">
            <a:avLst/>
          </a:prstGeom>
          <a:solidFill>
            <a:srgbClr val="0A3D3B"/>
          </a:solidFill>
          <a:ln w="9525">
            <a:solidFill>
              <a:srgbClr val="D4A0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74136"/>
            <a:ext cx="1691640" cy="749808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74136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1-2 个月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331720" y="34655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财务建模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31720" y="3758184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构建详细 DCF 模型:  MACSE 拍卖参与 ·  MSD 资格 ·  套利收益 ·  IRR + 敏感性分析。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15384"/>
            <a:ext cx="11274552" cy="749808"/>
          </a:xfrm>
          <a:prstGeom prst="rect">
            <a:avLst/>
          </a:prstGeom>
          <a:solidFill>
            <a:srgbClr val="0A3D3B"/>
          </a:solidFill>
          <a:ln w="9525">
            <a:solidFill>
              <a:srgbClr val="D4A04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15384"/>
            <a:ext cx="1691640" cy="749808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15384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 2026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31720" y="4306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投资决策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331720" y="4599432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 WiseGlow Italy 董事会 (CDA) 提交决议;  如批准, 启动并网申请 (Terna / E-distribuzione)。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5056632"/>
            <a:ext cx="11274552" cy="749808"/>
          </a:xfrm>
          <a:prstGeom prst="rect">
            <a:avLst/>
          </a:prstGeom>
          <a:solidFill>
            <a:srgbClr val="0A3D3B"/>
          </a:solidFill>
          <a:ln w="9525">
            <a:solidFill>
              <a:srgbClr val="D4A0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056632"/>
            <a:ext cx="1691640" cy="749808"/>
          </a:xfrm>
          <a:prstGeom prst="rect">
            <a:avLst/>
          </a:prstGeom>
          <a:solidFill>
            <a:srgbClr val="D4A04A"/>
          </a:solidFill>
          <a:ln w="12700">
            <a:solidFill>
              <a:srgbClr val="D4A0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5056632"/>
            <a:ext cx="1691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4D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持续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331720" y="5148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市场监测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331720" y="544068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建立月度 PUN/F1-F2 价差跟踪台账;  评估 15min 套利模型与  EU 容量市场演变。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5B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WISEGLOW ITALY S.R.L.  ·  资产运营  ·  GME PUN 深度分析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19695" y="6446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5B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保密文件  ·  2026年5月  ·  33 / 33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GME PUN 深度分析 — 价格曲线与峰谷套利</dc:title>
  <dc:subject>PptxGenJS Presentation</dc:subject>
  <dc:creator>WiseGlow Italy S.r.l. — Asset Management</dc:creator>
  <cp:lastModifiedBy>WiseGlow Italy S.r.l. — Asset Management</cp:lastModifiedBy>
  <cp:revision>1</cp:revision>
  <dcterms:created xsi:type="dcterms:W3CDTF">2026-05-23T10:52:30Z</dcterms:created>
  <dcterms:modified xsi:type="dcterms:W3CDTF">2026-05-23T10:52:30Z</dcterms:modified>
</cp:coreProperties>
</file>